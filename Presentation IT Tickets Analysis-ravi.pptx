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2.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3.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4.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8"/>
  </p:notesMasterIdLst>
  <p:sldIdLst>
    <p:sldId id="256" r:id="rId2"/>
    <p:sldId id="260" r:id="rId3"/>
    <p:sldId id="270" r:id="rId4"/>
    <p:sldId id="271" r:id="rId5"/>
    <p:sldId id="259" r:id="rId6"/>
    <p:sldId id="262" r:id="rId7"/>
    <p:sldId id="261" r:id="rId8"/>
    <p:sldId id="287" r:id="rId9"/>
    <p:sldId id="272" r:id="rId10"/>
    <p:sldId id="289" r:id="rId11"/>
    <p:sldId id="273" r:id="rId12"/>
    <p:sldId id="274" r:id="rId13"/>
    <p:sldId id="288" r:id="rId14"/>
    <p:sldId id="293" r:id="rId15"/>
    <p:sldId id="264" r:id="rId16"/>
    <p:sldId id="2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21A68A-8CBD-4138-A91F-7E780093BC9D}" v="813" dt="2025-12-24T14:04:42.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94702"/>
  </p:normalViewPr>
  <p:slideViewPr>
    <p:cSldViewPr snapToGrid="0">
      <p:cViewPr varScale="1">
        <p:scale>
          <a:sx n="90" d="100"/>
          <a:sy n="90" d="100"/>
        </p:scale>
        <p:origin x="4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Kant Mishra" userId="69356dedcbac92ef" providerId="LiveId" clId="{1E820BA6-2651-4F51-9656-6C02E31E1D0F}"/>
    <pc:docChg chg="undo redo custSel addSld delSld modSld sldOrd">
      <pc:chgData name="Ravi Kant Mishra" userId="69356dedcbac92ef" providerId="LiveId" clId="{1E820BA6-2651-4F51-9656-6C02E31E1D0F}" dt="2025-12-24T14:08:56.732" v="2606" actId="14100"/>
      <pc:docMkLst>
        <pc:docMk/>
      </pc:docMkLst>
      <pc:sldChg chg="modSp mod">
        <pc:chgData name="Ravi Kant Mishra" userId="69356dedcbac92ef" providerId="LiveId" clId="{1E820BA6-2651-4F51-9656-6C02E31E1D0F}" dt="2025-12-06T15:49:50.011" v="129" actId="14100"/>
        <pc:sldMkLst>
          <pc:docMk/>
          <pc:sldMk cId="4178749512" sldId="256"/>
        </pc:sldMkLst>
        <pc:spChg chg="mod">
          <ac:chgData name="Ravi Kant Mishra" userId="69356dedcbac92ef" providerId="LiveId" clId="{1E820BA6-2651-4F51-9656-6C02E31E1D0F}" dt="2025-12-06T15:49:37.601" v="127" actId="1076"/>
          <ac:spMkLst>
            <pc:docMk/>
            <pc:sldMk cId="4178749512" sldId="256"/>
            <ac:spMk id="8" creationId="{B99904DF-EC9B-2011-EB13-43D187FCD9D3}"/>
          </ac:spMkLst>
        </pc:spChg>
        <pc:spChg chg="mod">
          <ac:chgData name="Ravi Kant Mishra" userId="69356dedcbac92ef" providerId="LiveId" clId="{1E820BA6-2651-4F51-9656-6C02E31E1D0F}" dt="2025-12-06T15:49:50.011" v="129" actId="14100"/>
          <ac:spMkLst>
            <pc:docMk/>
            <pc:sldMk cId="4178749512" sldId="256"/>
            <ac:spMk id="10" creationId="{3F8957B5-BBE6-15E4-F87E-E70682E2216D}"/>
          </ac:spMkLst>
        </pc:spChg>
        <pc:picChg chg="mod">
          <ac:chgData name="Ravi Kant Mishra" userId="69356dedcbac92ef" providerId="LiveId" clId="{1E820BA6-2651-4F51-9656-6C02E31E1D0F}" dt="2025-12-06T15:48:29.360" v="115" actId="1076"/>
          <ac:picMkLst>
            <pc:docMk/>
            <pc:sldMk cId="4178749512" sldId="256"/>
            <ac:picMk id="1028" creationId="{6E50B9B2-FC8C-7378-D788-B34513A1A429}"/>
          </ac:picMkLst>
        </pc:picChg>
      </pc:sldChg>
      <pc:sldChg chg="modSp">
        <pc:chgData name="Ravi Kant Mishra" userId="69356dedcbac92ef" providerId="LiveId" clId="{1E820BA6-2651-4F51-9656-6C02E31E1D0F}" dt="2025-12-06T14:59:20.153" v="29"/>
        <pc:sldMkLst>
          <pc:docMk/>
          <pc:sldMk cId="1970006401" sldId="260"/>
        </pc:sldMkLst>
        <pc:spChg chg="mod">
          <ac:chgData name="Ravi Kant Mishra" userId="69356dedcbac92ef" providerId="LiveId" clId="{1E820BA6-2651-4F51-9656-6C02E31E1D0F}" dt="2025-12-06T14:59:20.153" v="29"/>
          <ac:spMkLst>
            <pc:docMk/>
            <pc:sldMk cId="1970006401" sldId="260"/>
            <ac:spMk id="7" creationId="{12BE6F1E-85E1-E107-DF19-24A6EC520D87}"/>
          </ac:spMkLst>
        </pc:spChg>
      </pc:sldChg>
      <pc:sldChg chg="modSp mod">
        <pc:chgData name="Ravi Kant Mishra" userId="69356dedcbac92ef" providerId="LiveId" clId="{1E820BA6-2651-4F51-9656-6C02E31E1D0F}" dt="2025-12-24T13:58:10.242" v="2454" actId="207"/>
        <pc:sldMkLst>
          <pc:docMk/>
          <pc:sldMk cId="2617211980" sldId="261"/>
        </pc:sldMkLst>
        <pc:spChg chg="mod">
          <ac:chgData name="Ravi Kant Mishra" userId="69356dedcbac92ef" providerId="LiveId" clId="{1E820BA6-2651-4F51-9656-6C02E31E1D0F}" dt="2025-12-24T13:58:10.242" v="2454" actId="207"/>
          <ac:spMkLst>
            <pc:docMk/>
            <pc:sldMk cId="2617211980" sldId="261"/>
            <ac:spMk id="8" creationId="{30F02A75-BF30-8740-01E9-21818EF9EE4A}"/>
          </ac:spMkLst>
        </pc:spChg>
      </pc:sldChg>
      <pc:sldChg chg="modSp mod">
        <pc:chgData name="Ravi Kant Mishra" userId="69356dedcbac92ef" providerId="LiveId" clId="{1E820BA6-2651-4F51-9656-6C02E31E1D0F}" dt="2025-12-06T15:50:53.342" v="133" actId="1076"/>
        <pc:sldMkLst>
          <pc:docMk/>
          <pc:sldMk cId="3027523558" sldId="262"/>
        </pc:sldMkLst>
        <pc:picChg chg="mod">
          <ac:chgData name="Ravi Kant Mishra" userId="69356dedcbac92ef" providerId="LiveId" clId="{1E820BA6-2651-4F51-9656-6C02E31E1D0F}" dt="2025-12-06T15:50:53.342" v="133" actId="1076"/>
          <ac:picMkLst>
            <pc:docMk/>
            <pc:sldMk cId="3027523558" sldId="262"/>
            <ac:picMk id="7" creationId="{3865957A-7511-2A47-1FCA-1183FB2A942D}"/>
          </ac:picMkLst>
        </pc:picChg>
      </pc:sldChg>
      <pc:sldChg chg="addSp delSp modSp mod">
        <pc:chgData name="Ravi Kant Mishra" userId="69356dedcbac92ef" providerId="LiveId" clId="{1E820BA6-2651-4F51-9656-6C02E31E1D0F}" dt="2025-12-19T07:34:51.919" v="2316" actId="14100"/>
        <pc:sldMkLst>
          <pc:docMk/>
          <pc:sldMk cId="1261913259" sldId="264"/>
        </pc:sldMkLst>
        <pc:picChg chg="add mod">
          <ac:chgData name="Ravi Kant Mishra" userId="69356dedcbac92ef" providerId="LiveId" clId="{1E820BA6-2651-4F51-9656-6C02E31E1D0F}" dt="2025-12-19T07:34:51.919" v="2316" actId="14100"/>
          <ac:picMkLst>
            <pc:docMk/>
            <pc:sldMk cId="1261913259" sldId="264"/>
            <ac:picMk id="10" creationId="{EE25BFC0-BCEE-AD2A-2525-67721BCC7264}"/>
          </ac:picMkLst>
        </pc:picChg>
      </pc:sldChg>
      <pc:sldChg chg="addSp delSp modSp mod">
        <pc:chgData name="Ravi Kant Mishra" userId="69356dedcbac92ef" providerId="LiveId" clId="{1E820BA6-2651-4F51-9656-6C02E31E1D0F}" dt="2025-12-16T03:02:47.468" v="922" actId="14100"/>
        <pc:sldMkLst>
          <pc:docMk/>
          <pc:sldMk cId="870230695" sldId="270"/>
        </pc:sldMkLst>
        <pc:spChg chg="mod">
          <ac:chgData name="Ravi Kant Mishra" userId="69356dedcbac92ef" providerId="LiveId" clId="{1E820BA6-2651-4F51-9656-6C02E31E1D0F}" dt="2025-12-16T03:02:30.349" v="919" actId="1076"/>
          <ac:spMkLst>
            <pc:docMk/>
            <pc:sldMk cId="870230695" sldId="270"/>
            <ac:spMk id="8" creationId="{165C2B0E-0907-B64F-6E01-7741F1F024DF}"/>
          </ac:spMkLst>
        </pc:spChg>
        <pc:picChg chg="add mod">
          <ac:chgData name="Ravi Kant Mishra" userId="69356dedcbac92ef" providerId="LiveId" clId="{1E820BA6-2651-4F51-9656-6C02E31E1D0F}" dt="2025-12-16T03:02:47.468" v="922" actId="14100"/>
          <ac:picMkLst>
            <pc:docMk/>
            <pc:sldMk cId="870230695" sldId="270"/>
            <ac:picMk id="4" creationId="{8DAD777C-ABB7-8C0E-CD4D-E6BC94077A4C}"/>
          </ac:picMkLst>
        </pc:picChg>
      </pc:sldChg>
      <pc:sldChg chg="addSp delSp modSp mod">
        <pc:chgData name="Ravi Kant Mishra" userId="69356dedcbac92ef" providerId="LiveId" clId="{1E820BA6-2651-4F51-9656-6C02E31E1D0F}" dt="2025-12-16T03:03:54.741" v="932" actId="14100"/>
        <pc:sldMkLst>
          <pc:docMk/>
          <pc:sldMk cId="2765602327" sldId="271"/>
        </pc:sldMkLst>
        <pc:spChg chg="mod">
          <ac:chgData name="Ravi Kant Mishra" userId="69356dedcbac92ef" providerId="LiveId" clId="{1E820BA6-2651-4F51-9656-6C02E31E1D0F}" dt="2025-12-16T03:03:22.726" v="927" actId="122"/>
          <ac:spMkLst>
            <pc:docMk/>
            <pc:sldMk cId="2765602327" sldId="271"/>
            <ac:spMk id="4" creationId="{A456126F-F4C1-7625-173B-1A1067A0175F}"/>
          </ac:spMkLst>
        </pc:spChg>
        <pc:picChg chg="add mod">
          <ac:chgData name="Ravi Kant Mishra" userId="69356dedcbac92ef" providerId="LiveId" clId="{1E820BA6-2651-4F51-9656-6C02E31E1D0F}" dt="2025-12-16T03:03:54.741" v="932" actId="14100"/>
          <ac:picMkLst>
            <pc:docMk/>
            <pc:sldMk cId="2765602327" sldId="271"/>
            <ac:picMk id="7" creationId="{7CBF95D4-BEC4-C2E5-0A2E-F6C81DA9F16F}"/>
          </ac:picMkLst>
        </pc:picChg>
      </pc:sldChg>
      <pc:sldChg chg="addSp delSp modSp mod ord">
        <pc:chgData name="Ravi Kant Mishra" userId="69356dedcbac92ef" providerId="LiveId" clId="{1E820BA6-2651-4F51-9656-6C02E31E1D0F}" dt="2025-12-24T13:58:20.930" v="2455" actId="207"/>
        <pc:sldMkLst>
          <pc:docMk/>
          <pc:sldMk cId="945075128" sldId="272"/>
        </pc:sldMkLst>
        <pc:spChg chg="mod">
          <ac:chgData name="Ravi Kant Mishra" userId="69356dedcbac92ef" providerId="LiveId" clId="{1E820BA6-2651-4F51-9656-6C02E31E1D0F}" dt="2025-12-24T13:58:20.930" v="2455" actId="207"/>
          <ac:spMkLst>
            <pc:docMk/>
            <pc:sldMk cId="945075128" sldId="272"/>
            <ac:spMk id="4" creationId="{4476E681-E5F6-9954-30E7-46F82DA37FEE}"/>
          </ac:spMkLst>
        </pc:spChg>
        <pc:spChg chg="mod">
          <ac:chgData name="Ravi Kant Mishra" userId="69356dedcbac92ef" providerId="LiveId" clId="{1E820BA6-2651-4F51-9656-6C02E31E1D0F}" dt="2025-12-19T04:02:01.450" v="1272" actId="1076"/>
          <ac:spMkLst>
            <pc:docMk/>
            <pc:sldMk cId="945075128" sldId="272"/>
            <ac:spMk id="12" creationId="{7E996624-E570-10C1-C376-3922209291E6}"/>
          </ac:spMkLst>
        </pc:spChg>
        <pc:graphicFrameChg chg="add mod">
          <ac:chgData name="Ravi Kant Mishra" userId="69356dedcbac92ef" providerId="LiveId" clId="{1E820BA6-2651-4F51-9656-6C02E31E1D0F}" dt="2025-12-19T04:05:26.820" v="1291"/>
          <ac:graphicFrameMkLst>
            <pc:docMk/>
            <pc:sldMk cId="945075128" sldId="272"/>
            <ac:graphicFrameMk id="2" creationId="{A216E072-A01F-830E-24FE-07BB98FC7DB3}"/>
          </ac:graphicFrameMkLst>
        </pc:graphicFrameChg>
      </pc:sldChg>
      <pc:sldChg chg="addSp delSp modSp mod ord">
        <pc:chgData name="Ravi Kant Mishra" userId="69356dedcbac92ef" providerId="LiveId" clId="{1E820BA6-2651-4F51-9656-6C02E31E1D0F}" dt="2025-12-19T04:34:49.457" v="1685" actId="1076"/>
        <pc:sldMkLst>
          <pc:docMk/>
          <pc:sldMk cId="2725685164" sldId="273"/>
        </pc:sldMkLst>
        <pc:spChg chg="add del mod">
          <ac:chgData name="Ravi Kant Mishra" userId="69356dedcbac92ef" providerId="LiveId" clId="{1E820BA6-2651-4F51-9656-6C02E31E1D0F}" dt="2025-12-19T04:19:56.604" v="1487" actId="1076"/>
          <ac:spMkLst>
            <pc:docMk/>
            <pc:sldMk cId="2725685164" sldId="273"/>
            <ac:spMk id="6" creationId="{8BC78944-26E3-8AA8-14FA-EE803174B6C5}"/>
          </ac:spMkLst>
        </pc:spChg>
        <pc:spChg chg="mod">
          <ac:chgData name="Ravi Kant Mishra" userId="69356dedcbac92ef" providerId="LiveId" clId="{1E820BA6-2651-4F51-9656-6C02E31E1D0F}" dt="2025-12-19T04:34:49.457" v="1685" actId="1076"/>
          <ac:spMkLst>
            <pc:docMk/>
            <pc:sldMk cId="2725685164" sldId="273"/>
            <ac:spMk id="7" creationId="{D97197D3-A131-0C99-4865-7BCB8CADFDA3}"/>
          </ac:spMkLst>
        </pc:spChg>
        <pc:spChg chg="add mod">
          <ac:chgData name="Ravi Kant Mishra" userId="69356dedcbac92ef" providerId="LiveId" clId="{1E820BA6-2651-4F51-9656-6C02E31E1D0F}" dt="2025-12-19T04:20:17.688" v="1492" actId="6549"/>
          <ac:spMkLst>
            <pc:docMk/>
            <pc:sldMk cId="2725685164" sldId="273"/>
            <ac:spMk id="21" creationId="{DABB6FA7-9BFE-7EF8-561E-508147126253}"/>
          </ac:spMkLst>
        </pc:spChg>
        <pc:graphicFrameChg chg="add del mod">
          <ac:chgData name="Ravi Kant Mishra" userId="69356dedcbac92ef" providerId="LiveId" clId="{1E820BA6-2651-4F51-9656-6C02E31E1D0F}" dt="2025-12-19T04:33:27.751" v="1670" actId="1076"/>
          <ac:graphicFrameMkLst>
            <pc:docMk/>
            <pc:sldMk cId="2725685164" sldId="273"/>
            <ac:graphicFrameMk id="17" creationId="{28CE750B-9E81-45EA-8B1B-E50546CEFFBE}"/>
          </ac:graphicFrameMkLst>
        </pc:graphicFrameChg>
        <pc:graphicFrameChg chg="add del mod">
          <ac:chgData name="Ravi Kant Mishra" userId="69356dedcbac92ef" providerId="LiveId" clId="{1E820BA6-2651-4F51-9656-6C02E31E1D0F}" dt="2025-12-19T04:33:35.774" v="1671" actId="1076"/>
          <ac:graphicFrameMkLst>
            <pc:docMk/>
            <pc:sldMk cId="2725685164" sldId="273"/>
            <ac:graphicFrameMk id="18" creationId="{DD63C759-9053-4C50-A1AE-29A4AEBAFE7E}"/>
          </ac:graphicFrameMkLst>
        </pc:graphicFrameChg>
        <pc:graphicFrameChg chg="add del mod">
          <ac:chgData name="Ravi Kant Mishra" userId="69356dedcbac92ef" providerId="LiveId" clId="{1E820BA6-2651-4F51-9656-6C02E31E1D0F}" dt="2025-12-19T04:34:01.827" v="1675" actId="1076"/>
          <ac:graphicFrameMkLst>
            <pc:docMk/>
            <pc:sldMk cId="2725685164" sldId="273"/>
            <ac:graphicFrameMk id="19" creationId="{48A4EF9E-461F-4B20-B262-C8D26A2D702A}"/>
          </ac:graphicFrameMkLst>
        </pc:graphicFrameChg>
        <pc:graphicFrameChg chg="add del mod">
          <ac:chgData name="Ravi Kant Mishra" userId="69356dedcbac92ef" providerId="LiveId" clId="{1E820BA6-2651-4F51-9656-6C02E31E1D0F}" dt="2025-12-19T04:34:23.035" v="1678" actId="1076"/>
          <ac:graphicFrameMkLst>
            <pc:docMk/>
            <pc:sldMk cId="2725685164" sldId="273"/>
            <ac:graphicFrameMk id="20" creationId="{D2336DCA-9B7D-4106-A567-831D02ED2565}"/>
          </ac:graphicFrameMkLst>
        </pc:graphicFrameChg>
        <pc:graphicFrameChg chg="add del mod">
          <ac:chgData name="Ravi Kant Mishra" userId="69356dedcbac92ef" providerId="LiveId" clId="{1E820BA6-2651-4F51-9656-6C02E31E1D0F}" dt="2025-12-19T04:34:45.629" v="1684" actId="14100"/>
          <ac:graphicFrameMkLst>
            <pc:docMk/>
            <pc:sldMk cId="2725685164" sldId="273"/>
            <ac:graphicFrameMk id="23" creationId="{AE80861F-69E7-4D79-B16F-D828D57B6146}"/>
          </ac:graphicFrameMkLst>
        </pc:graphicFrameChg>
      </pc:sldChg>
      <pc:sldChg chg="addSp delSp modSp mod">
        <pc:chgData name="Ravi Kant Mishra" userId="69356dedcbac92ef" providerId="LiveId" clId="{1E820BA6-2651-4F51-9656-6C02E31E1D0F}" dt="2025-12-24T13:57:32.212" v="2451" actId="113"/>
        <pc:sldMkLst>
          <pc:docMk/>
          <pc:sldMk cId="1425687528" sldId="274"/>
        </pc:sldMkLst>
        <pc:spChg chg="add mod">
          <ac:chgData name="Ravi Kant Mishra" userId="69356dedcbac92ef" providerId="LiveId" clId="{1E820BA6-2651-4F51-9656-6C02E31E1D0F}" dt="2025-12-19T06:16:20.978" v="2171" actId="1076"/>
          <ac:spMkLst>
            <pc:docMk/>
            <pc:sldMk cId="1425687528" sldId="274"/>
            <ac:spMk id="10" creationId="{36E28637-7273-CC40-0288-581FE00D1A0D}"/>
          </ac:spMkLst>
        </pc:spChg>
        <pc:spChg chg="add mod">
          <ac:chgData name="Ravi Kant Mishra" userId="69356dedcbac92ef" providerId="LiveId" clId="{1E820BA6-2651-4F51-9656-6C02E31E1D0F}" dt="2025-12-24T13:57:32.212" v="2451" actId="113"/>
          <ac:spMkLst>
            <pc:docMk/>
            <pc:sldMk cId="1425687528" sldId="274"/>
            <ac:spMk id="12" creationId="{BA373A57-AE97-E892-E815-CCE243970356}"/>
          </ac:spMkLst>
        </pc:spChg>
        <pc:graphicFrameChg chg="add mod">
          <ac:chgData name="Ravi Kant Mishra" userId="69356dedcbac92ef" providerId="LiveId" clId="{1E820BA6-2651-4F51-9656-6C02E31E1D0F}" dt="2025-12-20T03:03:55.668" v="2390"/>
          <ac:graphicFrameMkLst>
            <pc:docMk/>
            <pc:sldMk cId="1425687528" sldId="274"/>
            <ac:graphicFrameMk id="11" creationId="{41F0762C-B021-A0B5-0ABE-289629EBAE26}"/>
          </ac:graphicFrameMkLst>
        </pc:graphicFrameChg>
      </pc:sldChg>
      <pc:sldChg chg="addSp delSp modSp add del mod">
        <pc:chgData name="Ravi Kant Mishra" userId="69356dedcbac92ef" providerId="LiveId" clId="{1E820BA6-2651-4F51-9656-6C02E31E1D0F}" dt="2025-12-24T14:08:35.388" v="2603" actId="47"/>
        <pc:sldMkLst>
          <pc:docMk/>
          <pc:sldMk cId="4099655843" sldId="282"/>
        </pc:sldMkLst>
        <pc:spChg chg="mod">
          <ac:chgData name="Ravi Kant Mishra" userId="69356dedcbac92ef" providerId="LiveId" clId="{1E820BA6-2651-4F51-9656-6C02E31E1D0F}" dt="2025-12-24T13:59:07.566" v="2459" actId="1076"/>
          <ac:spMkLst>
            <pc:docMk/>
            <pc:sldMk cId="4099655843" sldId="282"/>
            <ac:spMk id="5" creationId="{8AA3C075-84DE-209E-CCA7-10B90A18DEE5}"/>
          </ac:spMkLst>
        </pc:spChg>
      </pc:sldChg>
      <pc:sldChg chg="del">
        <pc:chgData name="Ravi Kant Mishra" userId="69356dedcbac92ef" providerId="LiveId" clId="{1E820BA6-2651-4F51-9656-6C02E31E1D0F}" dt="2025-12-24T13:50:41.240" v="2448" actId="2696"/>
        <pc:sldMkLst>
          <pc:docMk/>
          <pc:sldMk cId="2562098329" sldId="284"/>
        </pc:sldMkLst>
      </pc:sldChg>
      <pc:sldChg chg="del">
        <pc:chgData name="Ravi Kant Mishra" userId="69356dedcbac92ef" providerId="LiveId" clId="{1E820BA6-2651-4F51-9656-6C02E31E1D0F}" dt="2025-12-24T13:50:58.932" v="2449" actId="2696"/>
        <pc:sldMkLst>
          <pc:docMk/>
          <pc:sldMk cId="1887935733" sldId="285"/>
        </pc:sldMkLst>
      </pc:sldChg>
      <pc:sldChg chg="delSp modSp mod">
        <pc:chgData name="Ravi Kant Mishra" userId="69356dedcbac92ef" providerId="LiveId" clId="{1E820BA6-2651-4F51-9656-6C02E31E1D0F}" dt="2025-12-20T07:15:44.235" v="2447" actId="14100"/>
        <pc:sldMkLst>
          <pc:docMk/>
          <pc:sldMk cId="523076564" sldId="286"/>
        </pc:sldMkLst>
        <pc:spChg chg="mod">
          <ac:chgData name="Ravi Kant Mishra" userId="69356dedcbac92ef" providerId="LiveId" clId="{1E820BA6-2651-4F51-9656-6C02E31E1D0F}" dt="2025-12-20T07:15:44.235" v="2447" actId="14100"/>
          <ac:spMkLst>
            <pc:docMk/>
            <pc:sldMk cId="523076564" sldId="286"/>
            <ac:spMk id="3" creationId="{9417C3D0-6833-D952-678C-96FC951F2AB5}"/>
          </ac:spMkLst>
        </pc:spChg>
      </pc:sldChg>
      <pc:sldChg chg="addSp delSp modSp mod">
        <pc:chgData name="Ravi Kant Mishra" userId="69356dedcbac92ef" providerId="LiveId" clId="{1E820BA6-2651-4F51-9656-6C02E31E1D0F}" dt="2025-12-24T13:57:55.658" v="2453" actId="207"/>
        <pc:sldMkLst>
          <pc:docMk/>
          <pc:sldMk cId="1570067555" sldId="287"/>
        </pc:sldMkLst>
        <pc:spChg chg="mod">
          <ac:chgData name="Ravi Kant Mishra" userId="69356dedcbac92ef" providerId="LiveId" clId="{1E820BA6-2651-4F51-9656-6C02E31E1D0F}" dt="2025-12-19T03:56:04.946" v="1258" actId="1076"/>
          <ac:spMkLst>
            <pc:docMk/>
            <pc:sldMk cId="1570067555" sldId="287"/>
            <ac:spMk id="6" creationId="{25E26CB0-EDA9-6045-7533-1525519AB44D}"/>
          </ac:spMkLst>
        </pc:spChg>
        <pc:spChg chg="mod">
          <ac:chgData name="Ravi Kant Mishra" userId="69356dedcbac92ef" providerId="LiveId" clId="{1E820BA6-2651-4F51-9656-6C02E31E1D0F}" dt="2025-12-24T13:57:55.658" v="2453" actId="207"/>
          <ac:spMkLst>
            <pc:docMk/>
            <pc:sldMk cId="1570067555" sldId="287"/>
            <ac:spMk id="7" creationId="{D00F16B0-1C77-C7EF-E614-0CA99C5ABC6A}"/>
          </ac:spMkLst>
        </pc:spChg>
        <pc:graphicFrameChg chg="add mod">
          <ac:chgData name="Ravi Kant Mishra" userId="69356dedcbac92ef" providerId="LiveId" clId="{1E820BA6-2651-4F51-9656-6C02E31E1D0F}" dt="2025-12-19T05:19:03.037" v="1856" actId="13926"/>
          <ac:graphicFrameMkLst>
            <pc:docMk/>
            <pc:sldMk cId="1570067555" sldId="287"/>
            <ac:graphicFrameMk id="4" creationId="{51A605D9-0D3F-5E41-0EE4-CF6D8ED27CEA}"/>
          </ac:graphicFrameMkLst>
        </pc:graphicFrameChg>
      </pc:sldChg>
      <pc:sldChg chg="addSp delSp modSp mod ord">
        <pc:chgData name="Ravi Kant Mishra" userId="69356dedcbac92ef" providerId="LiveId" clId="{1E820BA6-2651-4F51-9656-6C02E31E1D0F}" dt="2025-12-24T13:58:56.653" v="2458" actId="207"/>
        <pc:sldMkLst>
          <pc:docMk/>
          <pc:sldMk cId="2605291663" sldId="288"/>
        </pc:sldMkLst>
        <pc:spChg chg="add mod">
          <ac:chgData name="Ravi Kant Mishra" userId="69356dedcbac92ef" providerId="LiveId" clId="{1E820BA6-2651-4F51-9656-6C02E31E1D0F}" dt="2025-12-24T13:58:56.653" v="2458" actId="207"/>
          <ac:spMkLst>
            <pc:docMk/>
            <pc:sldMk cId="2605291663" sldId="288"/>
            <ac:spMk id="7" creationId="{2D7250B8-61AC-D84B-0F79-4ED9754AC1B7}"/>
          </ac:spMkLst>
        </pc:spChg>
        <pc:spChg chg="add mod">
          <ac:chgData name="Ravi Kant Mishra" userId="69356dedcbac92ef" providerId="LiveId" clId="{1E820BA6-2651-4F51-9656-6C02E31E1D0F}" dt="2025-12-19T06:54:12.852" v="2296" actId="20577"/>
          <ac:spMkLst>
            <pc:docMk/>
            <pc:sldMk cId="2605291663" sldId="288"/>
            <ac:spMk id="8" creationId="{03671F26-3FCE-3DB7-15A9-6EC484891767}"/>
          </ac:spMkLst>
        </pc:spChg>
        <pc:graphicFrameChg chg="add mod">
          <ac:chgData name="Ravi Kant Mishra" userId="69356dedcbac92ef" providerId="LiveId" clId="{1E820BA6-2651-4F51-9656-6C02E31E1D0F}" dt="2025-12-19T06:50:07.619" v="2258" actId="14100"/>
          <ac:graphicFrameMkLst>
            <pc:docMk/>
            <pc:sldMk cId="2605291663" sldId="288"/>
            <ac:graphicFrameMk id="5" creationId="{2A19B82B-5EDC-2A53-7FE8-BE152B2773AA}"/>
          </ac:graphicFrameMkLst>
        </pc:graphicFrameChg>
      </pc:sldChg>
      <pc:sldChg chg="addSp delSp modSp mod">
        <pc:chgData name="Ravi Kant Mishra" userId="69356dedcbac92ef" providerId="LiveId" clId="{1E820BA6-2651-4F51-9656-6C02E31E1D0F}" dt="2025-12-19T06:51:23.938" v="2267" actId="20577"/>
        <pc:sldMkLst>
          <pc:docMk/>
          <pc:sldMk cId="1641151866" sldId="289"/>
        </pc:sldMkLst>
        <pc:spChg chg="mod">
          <ac:chgData name="Ravi Kant Mishra" userId="69356dedcbac92ef" providerId="LiveId" clId="{1E820BA6-2651-4F51-9656-6C02E31E1D0F}" dt="2025-12-19T04:04:15.877" v="1288" actId="1076"/>
          <ac:spMkLst>
            <pc:docMk/>
            <pc:sldMk cId="1641151866" sldId="289"/>
            <ac:spMk id="4" creationId="{DEF570FC-76E3-DA17-F409-BCE00DCBF99B}"/>
          </ac:spMkLst>
        </pc:spChg>
        <pc:spChg chg="mod">
          <ac:chgData name="Ravi Kant Mishra" userId="69356dedcbac92ef" providerId="LiveId" clId="{1E820BA6-2651-4F51-9656-6C02E31E1D0F}" dt="2025-12-19T06:51:23.938" v="2267" actId="20577"/>
          <ac:spMkLst>
            <pc:docMk/>
            <pc:sldMk cId="1641151866" sldId="289"/>
            <ac:spMk id="7" creationId="{041C19AC-2BD2-7A16-044A-9D19BDA2E3FE}"/>
          </ac:spMkLst>
        </pc:spChg>
        <pc:graphicFrameChg chg="add mod">
          <ac:chgData name="Ravi Kant Mishra" userId="69356dedcbac92ef" providerId="LiveId" clId="{1E820BA6-2651-4F51-9656-6C02E31E1D0F}" dt="2025-12-19T06:51:15.719" v="2264" actId="1076"/>
          <ac:graphicFrameMkLst>
            <pc:docMk/>
            <pc:sldMk cId="1641151866" sldId="289"/>
            <ac:graphicFrameMk id="3" creationId="{0663696D-0E1F-7FE6-AF12-329657911BE4}"/>
          </ac:graphicFrameMkLst>
        </pc:graphicFrameChg>
      </pc:sldChg>
      <pc:sldChg chg="addSp delSp modSp new add del mod">
        <pc:chgData name="Ravi Kant Mishra" userId="69356dedcbac92ef" providerId="LiveId" clId="{1E820BA6-2651-4F51-9656-6C02E31E1D0F}" dt="2025-12-24T14:08:34.007" v="2602" actId="47"/>
        <pc:sldMkLst>
          <pc:docMk/>
          <pc:sldMk cId="839559549" sldId="290"/>
        </pc:sldMkLst>
        <pc:spChg chg="add del mod">
          <ac:chgData name="Ravi Kant Mishra" userId="69356dedcbac92ef" providerId="LiveId" clId="{1E820BA6-2651-4F51-9656-6C02E31E1D0F}" dt="2025-12-24T14:05:22.277" v="2595" actId="1076"/>
          <ac:spMkLst>
            <pc:docMk/>
            <pc:sldMk cId="839559549" sldId="290"/>
            <ac:spMk id="7" creationId="{DCD49495-251A-D251-6F98-8293481F693D}"/>
          </ac:spMkLst>
        </pc:spChg>
      </pc:sldChg>
      <pc:sldChg chg="addSp delSp modSp add del mod">
        <pc:chgData name="Ravi Kant Mishra" userId="69356dedcbac92ef" providerId="LiveId" clId="{1E820BA6-2651-4F51-9656-6C02E31E1D0F}" dt="2025-12-24T14:08:36.772" v="2604" actId="47"/>
        <pc:sldMkLst>
          <pc:docMk/>
          <pc:sldMk cId="1132419402" sldId="292"/>
        </pc:sldMkLst>
      </pc:sldChg>
      <pc:sldChg chg="addSp modSp new mod">
        <pc:chgData name="Ravi Kant Mishra" userId="69356dedcbac92ef" providerId="LiveId" clId="{1E820BA6-2651-4F51-9656-6C02E31E1D0F}" dt="2025-12-24T14:08:56.732" v="2606" actId="14100"/>
        <pc:sldMkLst>
          <pc:docMk/>
          <pc:sldMk cId="3099634543" sldId="293"/>
        </pc:sldMkLst>
        <pc:spChg chg="add mod">
          <ac:chgData name="Ravi Kant Mishra" userId="69356dedcbac92ef" providerId="LiveId" clId="{1E820BA6-2651-4F51-9656-6C02E31E1D0F}" dt="2025-12-24T14:08:56.732" v="2606" actId="14100"/>
          <ac:spMkLst>
            <pc:docMk/>
            <pc:sldMk cId="3099634543" sldId="293"/>
            <ac:spMk id="3" creationId="{3312C648-C429-F23F-CAAB-67088467DBF3}"/>
          </ac:spMkLst>
        </pc:spChg>
        <pc:spChg chg="add mod">
          <ac:chgData name="Ravi Kant Mishra" userId="69356dedcbac92ef" providerId="LiveId" clId="{1E820BA6-2651-4F51-9656-6C02E31E1D0F}" dt="2025-12-24T14:06:55.715" v="2601" actId="2711"/>
          <ac:spMkLst>
            <pc:docMk/>
            <pc:sldMk cId="3099634543" sldId="293"/>
            <ac:spMk id="4" creationId="{EEE2B709-2384-2CCD-C809-53007D3D39E2}"/>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4.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69356dedcbac92ef/Desktop/Newton%20School%20Excel%20Project/Ravi's%20Project/IT%20Tickets%20Analysis-ravi.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Analysis-ravi.xlsx]Q-10 Daily Tickets Volume!PivotTable1</c:name>
    <c:fmtId val="95"/>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286759609594256"/>
          <c:y val="0.11268696489358045"/>
          <c:w val="0.81971280388258938"/>
          <c:h val="0.73363549394898275"/>
        </c:manualLayout>
      </c:layout>
      <c:barChart>
        <c:barDir val="bar"/>
        <c:grouping val="clustered"/>
        <c:varyColors val="0"/>
        <c:ser>
          <c:idx val="0"/>
          <c:order val="0"/>
          <c:tx>
            <c:strRef>
              <c:f>'Q-10 Daily Tickets Volume'!$B$3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'Q-10 Daily Tickets Volume'!$A$4:$A$9</c:f>
              <c:strCache>
                <c:ptCount val="5"/>
                <c:pt idx="0">
                  <c:v>2016</c:v>
                </c:pt>
                <c:pt idx="1">
                  <c:v>2017</c:v>
                </c:pt>
                <c:pt idx="2">
                  <c:v>2018</c:v>
                </c:pt>
                <c:pt idx="3">
                  <c:v>2019</c:v>
                </c:pt>
                <c:pt idx="4">
                  <c:v>2020</c:v>
                </c:pt>
              </c:strCache>
            </c:strRef>
          </c:cat>
          <c:val>
            <c:numRef>
              <c:f>'Q-10 Daily Tickets Volume'!$B$4:$B$9</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DC35-475F-9C14-2C87810FA347}"/>
            </c:ext>
          </c:extLst>
        </c:ser>
        <c:dLbls>
          <c:dLblPos val="outEnd"/>
          <c:showLegendKey val="0"/>
          <c:showVal val="1"/>
          <c:showCatName val="0"/>
          <c:showSerName val="0"/>
          <c:showPercent val="0"/>
          <c:showBubbleSize val="0"/>
        </c:dLbls>
        <c:gapWidth val="115"/>
        <c:overlap val="-20"/>
        <c:axId val="499664127"/>
        <c:axId val="499666047"/>
      </c:barChart>
      <c:catAx>
        <c:axId val="499664127"/>
        <c:scaling>
          <c:orientation val="minMax"/>
        </c:scaling>
        <c:delete val="0"/>
        <c:axPos val="l"/>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a:t>Year</a:t>
                </a:r>
              </a:p>
            </c:rich>
          </c:tx>
          <c:layout>
            <c:manualLayout>
              <c:xMode val="edge"/>
              <c:yMode val="edge"/>
              <c:x val="2.6003131837011213E-2"/>
              <c:y val="0.43644391519879039"/>
            </c:manualLayout>
          </c:layout>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9666047"/>
        <c:crosses val="autoZero"/>
        <c:auto val="1"/>
        <c:lblAlgn val="ctr"/>
        <c:lblOffset val="100"/>
        <c:noMultiLvlLbl val="0"/>
      </c:catAx>
      <c:valAx>
        <c:axId val="499666047"/>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a:t>Count of ID Tickets</a:t>
                </a:r>
              </a:p>
            </c:rich>
          </c:tx>
          <c:layout>
            <c:manualLayout>
              <c:xMode val="edge"/>
              <c:yMode val="edge"/>
              <c:x val="0.40413934006462066"/>
              <c:y val="0.935798977638712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96641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Analysis-ravi.xlsx]1-Satisfaction Rate by Time!PivotTable5</c:name>
    <c:fmtId val="5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'1-Satisfaction Rate by Time'!$B$19</c:f>
              <c:strCache>
                <c:ptCount val="1"/>
                <c:pt idx="0">
                  <c:v>Average of Satisfaction Rate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'1-Satisfaction Rate by Time'!$A$20:$A$25</c:f>
              <c:strCache>
                <c:ptCount val="5"/>
                <c:pt idx="0">
                  <c:v>2016</c:v>
                </c:pt>
                <c:pt idx="1">
                  <c:v>2017</c:v>
                </c:pt>
                <c:pt idx="2">
                  <c:v>2018</c:v>
                </c:pt>
                <c:pt idx="3">
                  <c:v>2019</c:v>
                </c:pt>
                <c:pt idx="4">
                  <c:v>2020</c:v>
                </c:pt>
              </c:strCache>
            </c:strRef>
          </c:cat>
          <c:val>
            <c:numRef>
              <c:f>'1-Satisfaction Rate by Time'!$B$20:$B$25</c:f>
              <c:numCache>
                <c:formatCode>0.00</c:formatCode>
                <c:ptCount val="5"/>
                <c:pt idx="0">
                  <c:v>3.98</c:v>
                </c:pt>
                <c:pt idx="1">
                  <c:v>4.07</c:v>
                </c:pt>
                <c:pt idx="2">
                  <c:v>4.09</c:v>
                </c:pt>
                <c:pt idx="3">
                  <c:v>4.12</c:v>
                </c:pt>
                <c:pt idx="4">
                  <c:v>4.16</c:v>
                </c:pt>
              </c:numCache>
            </c:numRef>
          </c:val>
          <c:extLst>
            <c:ext xmlns:c16="http://schemas.microsoft.com/office/drawing/2014/chart" uri="{C3380CC4-5D6E-409C-BE32-E72D297353CC}">
              <c16:uniqueId val="{00000000-1325-4E89-AE44-F050E63DCEAE}"/>
            </c:ext>
          </c:extLst>
        </c:ser>
        <c:ser>
          <c:idx val="1"/>
          <c:order val="1"/>
          <c:tx>
            <c:strRef>
              <c:f>'1-Satisfaction Rate by Time'!$C$19</c:f>
              <c:strCache>
                <c:ptCount val="1"/>
                <c:pt idx="0">
                  <c:v>Average of Resolution Time (Days)</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'1-Satisfaction Rate by Time'!$A$20:$A$25</c:f>
              <c:strCache>
                <c:ptCount val="5"/>
                <c:pt idx="0">
                  <c:v>2016</c:v>
                </c:pt>
                <c:pt idx="1">
                  <c:v>2017</c:v>
                </c:pt>
                <c:pt idx="2">
                  <c:v>2018</c:v>
                </c:pt>
                <c:pt idx="3">
                  <c:v>2019</c:v>
                </c:pt>
                <c:pt idx="4">
                  <c:v>2020</c:v>
                </c:pt>
              </c:strCache>
            </c:strRef>
          </c:cat>
          <c:val>
            <c:numRef>
              <c:f>'1-Satisfaction Rate by Time'!$C$20:$C$25</c:f>
              <c:numCache>
                <c:formatCode>0.00</c:formatCode>
                <c:ptCount val="5"/>
                <c:pt idx="0">
                  <c:v>4.55</c:v>
                </c:pt>
                <c:pt idx="1">
                  <c:v>4.53</c:v>
                </c:pt>
                <c:pt idx="2">
                  <c:v>4.5599999999999996</c:v>
                </c:pt>
                <c:pt idx="3">
                  <c:v>4.5199999999999996</c:v>
                </c:pt>
                <c:pt idx="4">
                  <c:v>4.59</c:v>
                </c:pt>
              </c:numCache>
            </c:numRef>
          </c:val>
          <c:extLst>
            <c:ext xmlns:c16="http://schemas.microsoft.com/office/drawing/2014/chart" uri="{C3380CC4-5D6E-409C-BE32-E72D297353CC}">
              <c16:uniqueId val="{00000001-1325-4E89-AE44-F050E63DCEAE}"/>
            </c:ext>
          </c:extLst>
        </c:ser>
        <c:dLbls>
          <c:dLblPos val="outEnd"/>
          <c:showLegendKey val="0"/>
          <c:showVal val="1"/>
          <c:showCatName val="0"/>
          <c:showSerName val="0"/>
          <c:showPercent val="0"/>
          <c:showBubbleSize val="0"/>
        </c:dLbls>
        <c:gapWidth val="182"/>
        <c:axId val="1374736159"/>
        <c:axId val="1374732799"/>
      </c:barChart>
      <c:catAx>
        <c:axId val="137473615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4732799"/>
        <c:crosses val="autoZero"/>
        <c:auto val="1"/>
        <c:lblAlgn val="ctr"/>
        <c:lblOffset val="100"/>
        <c:noMultiLvlLbl val="0"/>
      </c:catAx>
      <c:valAx>
        <c:axId val="1374732799"/>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4736159"/>
        <c:crosses val="autoZero"/>
        <c:crossBetween val="between"/>
      </c:valAx>
      <c:spPr>
        <a:noFill/>
        <a:ln>
          <a:noFill/>
        </a:ln>
        <a:effectLst/>
      </c:spPr>
    </c:plotArea>
    <c:legend>
      <c:legendPos val="b"/>
      <c:layout>
        <c:manualLayout>
          <c:xMode val="edge"/>
          <c:yMode val="edge"/>
          <c:x val="0.29899539153350513"/>
          <c:y val="0.92667324956222374"/>
          <c:w val="0.40200921693298974"/>
          <c:h val="7.332675043777624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 2-AgeGroupbySatisfaction Rate!PivotTable2</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dirty="0">
                <a:solidFill>
                  <a:srgbClr val="FFFF00"/>
                </a:solidFill>
              </a:rPr>
              <a:t> </a:t>
            </a:r>
            <a:endParaRPr lang="en-US" sz="1400" b="1" dirty="0">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 2-AgeGroupbySatisfaction Rate'!$B$3:$B$4</c:f>
              <c:strCache>
                <c:ptCount val="1"/>
                <c:pt idx="0">
                  <c:v>Hardware</c:v>
                </c:pt>
              </c:strCache>
            </c:strRef>
          </c:tx>
          <c:spPr>
            <a:solidFill>
              <a:schemeClr val="accent1">
                <a:shade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2-AgeGroupbySatisfaction Rate'!$A$5:$A$10</c:f>
              <c:strCache>
                <c:ptCount val="5"/>
                <c:pt idx="0">
                  <c:v>28-32</c:v>
                </c:pt>
                <c:pt idx="1">
                  <c:v>33-37</c:v>
                </c:pt>
                <c:pt idx="2">
                  <c:v>38-42</c:v>
                </c:pt>
                <c:pt idx="3">
                  <c:v>43-47</c:v>
                </c:pt>
                <c:pt idx="4">
                  <c:v>48-53</c:v>
                </c:pt>
              </c:strCache>
            </c:strRef>
          </c:cat>
          <c:val>
            <c:numRef>
              <c:f>' 2-AgeGroupbySatisfaction Rate'!$B$5:$B$10</c:f>
              <c:numCache>
                <c:formatCode>0.00</c:formatCode>
                <c:ptCount val="5"/>
                <c:pt idx="0">
                  <c:v>4.2068527918781697</c:v>
                </c:pt>
                <c:pt idx="1">
                  <c:v>3.8301886792452802</c:v>
                </c:pt>
                <c:pt idx="2">
                  <c:v>4.2627226463104302</c:v>
                </c:pt>
                <c:pt idx="3">
                  <c:v>3.99313501144165</c:v>
                </c:pt>
                <c:pt idx="4">
                  <c:v>4.1908396946564901</c:v>
                </c:pt>
              </c:numCache>
            </c:numRef>
          </c:val>
          <c:extLst>
            <c:ext xmlns:c16="http://schemas.microsoft.com/office/drawing/2014/chart" uri="{C3380CC4-5D6E-409C-BE32-E72D297353CC}">
              <c16:uniqueId val="{00000000-D994-4D19-A2C7-4122A7F8B1DE}"/>
            </c:ext>
          </c:extLst>
        </c:ser>
        <c:ser>
          <c:idx val="1"/>
          <c:order val="1"/>
          <c:tx>
            <c:strRef>
              <c:f>' 2-AgeGroupbySatisfaction Rate'!$C$3:$C$4</c:f>
              <c:strCache>
                <c:ptCount val="1"/>
                <c:pt idx="0">
                  <c:v>Login Access</c:v>
                </c:pt>
              </c:strCache>
            </c:strRef>
          </c:tx>
          <c:spPr>
            <a:solidFill>
              <a:schemeClr val="accent1">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2-AgeGroupbySatisfaction Rate'!$A$5:$A$10</c:f>
              <c:strCache>
                <c:ptCount val="5"/>
                <c:pt idx="0">
                  <c:v>28-32</c:v>
                </c:pt>
                <c:pt idx="1">
                  <c:v>33-37</c:v>
                </c:pt>
                <c:pt idx="2">
                  <c:v>38-42</c:v>
                </c:pt>
                <c:pt idx="3">
                  <c:v>43-47</c:v>
                </c:pt>
                <c:pt idx="4">
                  <c:v>48-53</c:v>
                </c:pt>
              </c:strCache>
            </c:strRef>
          </c:cat>
          <c:val>
            <c:numRef>
              <c:f>' 2-AgeGroupbySatisfaction Rate'!$C$5:$C$10</c:f>
              <c:numCache>
                <c:formatCode>0.00</c:formatCode>
                <c:ptCount val="5"/>
                <c:pt idx="0">
                  <c:v>4.1753459837352001</c:v>
                </c:pt>
                <c:pt idx="1">
                  <c:v>3.8788489208633101</c:v>
                </c:pt>
                <c:pt idx="2">
                  <c:v>4.3172504957038997</c:v>
                </c:pt>
                <c:pt idx="3">
                  <c:v>3.9571261806218798</c:v>
                </c:pt>
                <c:pt idx="4">
                  <c:v>4.1927533178849803</c:v>
                </c:pt>
              </c:numCache>
            </c:numRef>
          </c:val>
          <c:extLst>
            <c:ext xmlns:c16="http://schemas.microsoft.com/office/drawing/2014/chart" uri="{C3380CC4-5D6E-409C-BE32-E72D297353CC}">
              <c16:uniqueId val="{00000001-D994-4D19-A2C7-4122A7F8B1DE}"/>
            </c:ext>
          </c:extLst>
        </c:ser>
        <c:ser>
          <c:idx val="2"/>
          <c:order val="2"/>
          <c:tx>
            <c:strRef>
              <c:f>' 2-AgeGroupbySatisfaction Rate'!$D$3:$D$4</c:f>
              <c:strCache>
                <c:ptCount val="1"/>
                <c:pt idx="0">
                  <c:v>Software</c:v>
                </c:pt>
              </c:strCache>
            </c:strRef>
          </c:tx>
          <c:spPr>
            <a:solidFill>
              <a:schemeClr val="accent1">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2-AgeGroupbySatisfaction Rate'!$A$5:$A$10</c:f>
              <c:strCache>
                <c:ptCount val="5"/>
                <c:pt idx="0">
                  <c:v>28-32</c:v>
                </c:pt>
                <c:pt idx="1">
                  <c:v>33-37</c:v>
                </c:pt>
                <c:pt idx="2">
                  <c:v>38-42</c:v>
                </c:pt>
                <c:pt idx="3">
                  <c:v>43-47</c:v>
                </c:pt>
                <c:pt idx="4">
                  <c:v>48-53</c:v>
                </c:pt>
              </c:strCache>
            </c:strRef>
          </c:cat>
          <c:val>
            <c:numRef>
              <c:f>' 2-AgeGroupbySatisfaction Rate'!$D$5:$D$10</c:f>
              <c:numCache>
                <c:formatCode>0.00</c:formatCode>
                <c:ptCount val="5"/>
                <c:pt idx="0">
                  <c:v>4.2156282998943997</c:v>
                </c:pt>
                <c:pt idx="1">
                  <c:v>3.9162750961127699</c:v>
                </c:pt>
                <c:pt idx="2">
                  <c:v>4.2626165220186403</c:v>
                </c:pt>
                <c:pt idx="3">
                  <c:v>3.9722310377657899</c:v>
                </c:pt>
                <c:pt idx="4">
                  <c:v>4.1992859461213898</c:v>
                </c:pt>
              </c:numCache>
            </c:numRef>
          </c:val>
          <c:extLst>
            <c:ext xmlns:c16="http://schemas.microsoft.com/office/drawing/2014/chart" uri="{C3380CC4-5D6E-409C-BE32-E72D297353CC}">
              <c16:uniqueId val="{00000002-D994-4D19-A2C7-4122A7F8B1DE}"/>
            </c:ext>
          </c:extLst>
        </c:ser>
        <c:ser>
          <c:idx val="3"/>
          <c:order val="3"/>
          <c:tx>
            <c:strRef>
              <c:f>' 2-AgeGroupbySatisfaction Rate'!$E$3:$E$4</c:f>
              <c:strCache>
                <c:ptCount val="1"/>
                <c:pt idx="0">
                  <c:v>System</c:v>
                </c:pt>
              </c:strCache>
            </c:strRef>
          </c:tx>
          <c:spPr>
            <a:solidFill>
              <a:schemeClr val="accent1">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2-AgeGroupbySatisfaction Rate'!$A$5:$A$10</c:f>
              <c:strCache>
                <c:ptCount val="5"/>
                <c:pt idx="0">
                  <c:v>28-32</c:v>
                </c:pt>
                <c:pt idx="1">
                  <c:v>33-37</c:v>
                </c:pt>
                <c:pt idx="2">
                  <c:v>38-42</c:v>
                </c:pt>
                <c:pt idx="3">
                  <c:v>43-47</c:v>
                </c:pt>
                <c:pt idx="4">
                  <c:v>48-53</c:v>
                </c:pt>
              </c:strCache>
            </c:strRef>
          </c:cat>
          <c:val>
            <c:numRef>
              <c:f>' 2-AgeGroupbySatisfaction Rate'!$E$5:$E$10</c:f>
              <c:numCache>
                <c:formatCode>0.00</c:formatCode>
                <c:ptCount val="5"/>
                <c:pt idx="0">
                  <c:v>4.2338133333333303</c:v>
                </c:pt>
                <c:pt idx="1">
                  <c:v>3.87255953658013</c:v>
                </c:pt>
                <c:pt idx="2">
                  <c:v>4.2513022888713499</c:v>
                </c:pt>
                <c:pt idx="3">
                  <c:v>3.96250402317348</c:v>
                </c:pt>
                <c:pt idx="4">
                  <c:v>4.2040947928421701</c:v>
                </c:pt>
              </c:numCache>
            </c:numRef>
          </c:val>
          <c:extLst>
            <c:ext xmlns:c16="http://schemas.microsoft.com/office/drawing/2014/chart" uri="{C3380CC4-5D6E-409C-BE32-E72D297353CC}">
              <c16:uniqueId val="{00000003-D994-4D19-A2C7-4122A7F8B1DE}"/>
            </c:ext>
          </c:extLst>
        </c:ser>
        <c:dLbls>
          <c:dLblPos val="outEnd"/>
          <c:showLegendKey val="0"/>
          <c:showVal val="1"/>
          <c:showCatName val="0"/>
          <c:showSerName val="0"/>
          <c:showPercent val="0"/>
          <c:showBubbleSize val="0"/>
        </c:dLbls>
        <c:gapWidth val="219"/>
        <c:overlap val="-27"/>
        <c:axId val="1505298656"/>
        <c:axId val="973206064"/>
      </c:barChart>
      <c:catAx>
        <c:axId val="1505298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3206064"/>
        <c:crosses val="autoZero"/>
        <c:auto val="1"/>
        <c:lblAlgn val="ctr"/>
        <c:lblOffset val="100"/>
        <c:noMultiLvlLbl val="0"/>
      </c:catAx>
      <c:valAx>
        <c:axId val="973206064"/>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298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Analysis-ravi.xlsx]Q-9 Daily Avg Resolution Time!PivotTable5</c:name>
    <c:fmtId val="442"/>
  </c:pivotSource>
  <c:chart>
    <c:autoTitleDeleted val="1"/>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hade val="58000"/>
            </a:schemeClr>
          </a:solidFill>
          <a:ln w="19050">
            <a:solidFill>
              <a:schemeClr val="lt1"/>
            </a:solidFill>
          </a:ln>
          <a:effectLst/>
        </c:spPr>
      </c:pivotFmt>
      <c:pivotFmt>
        <c:idx val="8"/>
        <c:spPr>
          <a:solidFill>
            <a:schemeClr val="accent1">
              <a:shade val="86000"/>
            </a:schemeClr>
          </a:solidFill>
          <a:ln w="19050">
            <a:solidFill>
              <a:schemeClr val="lt1"/>
            </a:solidFill>
          </a:ln>
          <a:effectLst/>
        </c:spPr>
      </c:pivotFmt>
      <c:pivotFmt>
        <c:idx val="9"/>
        <c:spPr>
          <a:solidFill>
            <a:schemeClr val="accent1">
              <a:tint val="86000"/>
            </a:schemeClr>
          </a:solidFill>
          <a:ln w="19050">
            <a:solidFill>
              <a:schemeClr val="lt1"/>
            </a:solidFill>
          </a:ln>
          <a:effectLst/>
        </c:spPr>
      </c:pivotFmt>
      <c:pivotFmt>
        <c:idx val="10"/>
        <c:spPr>
          <a:solidFill>
            <a:schemeClr val="accent1">
              <a:tint val="58000"/>
            </a:schemeClr>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hade val="58000"/>
            </a:schemeClr>
          </a:solidFill>
          <a:ln w="19050">
            <a:solidFill>
              <a:schemeClr val="lt1"/>
            </a:solidFill>
          </a:ln>
          <a:effectLst/>
        </c:spPr>
      </c:pivotFmt>
      <c:pivotFmt>
        <c:idx val="13"/>
        <c:spPr>
          <a:solidFill>
            <a:schemeClr val="accent1">
              <a:shade val="86000"/>
            </a:schemeClr>
          </a:solidFill>
          <a:ln w="19050">
            <a:solidFill>
              <a:schemeClr val="lt1"/>
            </a:solidFill>
          </a:ln>
          <a:effectLst/>
        </c:spPr>
      </c:pivotFmt>
      <c:pivotFmt>
        <c:idx val="14"/>
        <c:spPr>
          <a:solidFill>
            <a:schemeClr val="accent1">
              <a:tint val="86000"/>
            </a:schemeClr>
          </a:solidFill>
          <a:ln w="19050">
            <a:solidFill>
              <a:schemeClr val="lt1"/>
            </a:solidFill>
          </a:ln>
          <a:effectLst/>
        </c:spPr>
      </c:pivotFmt>
      <c:pivotFmt>
        <c:idx val="15"/>
        <c:spPr>
          <a:solidFill>
            <a:schemeClr val="accent1">
              <a:tint val="58000"/>
            </a:schemeClr>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hade val="58000"/>
            </a:schemeClr>
          </a:solidFill>
          <a:ln w="19050">
            <a:solidFill>
              <a:schemeClr val="lt1"/>
            </a:solidFill>
          </a:ln>
          <a:effectLst/>
        </c:spPr>
      </c:pivotFmt>
      <c:pivotFmt>
        <c:idx val="18"/>
        <c:spPr>
          <a:solidFill>
            <a:schemeClr val="accent1">
              <a:shade val="86000"/>
            </a:schemeClr>
          </a:solidFill>
          <a:ln w="19050">
            <a:solidFill>
              <a:schemeClr val="lt1"/>
            </a:solidFill>
          </a:ln>
          <a:effectLst/>
        </c:spPr>
      </c:pivotFmt>
      <c:pivotFmt>
        <c:idx val="19"/>
        <c:spPr>
          <a:solidFill>
            <a:schemeClr val="accent1">
              <a:tint val="86000"/>
            </a:schemeClr>
          </a:solidFill>
          <a:ln w="19050">
            <a:solidFill>
              <a:schemeClr val="lt1"/>
            </a:solidFill>
          </a:ln>
          <a:effectLst/>
        </c:spPr>
      </c:pivotFmt>
      <c:pivotFmt>
        <c:idx val="20"/>
        <c:spPr>
          <a:solidFill>
            <a:schemeClr val="accent1">
              <a:tint val="58000"/>
            </a:schemeClr>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hade val="58000"/>
            </a:schemeClr>
          </a:solidFill>
          <a:ln w="19050">
            <a:solidFill>
              <a:schemeClr val="lt1"/>
            </a:solidFill>
          </a:ln>
          <a:effectLst/>
        </c:spPr>
      </c:pivotFmt>
      <c:pivotFmt>
        <c:idx val="23"/>
        <c:spPr>
          <a:solidFill>
            <a:schemeClr val="accent1">
              <a:shade val="86000"/>
            </a:schemeClr>
          </a:solidFill>
          <a:ln w="19050">
            <a:solidFill>
              <a:schemeClr val="lt1"/>
            </a:solidFill>
          </a:ln>
          <a:effectLst/>
        </c:spPr>
      </c:pivotFmt>
      <c:pivotFmt>
        <c:idx val="24"/>
        <c:spPr>
          <a:solidFill>
            <a:schemeClr val="accent1">
              <a:tint val="86000"/>
            </a:schemeClr>
          </a:solidFill>
          <a:ln w="19050">
            <a:solidFill>
              <a:schemeClr val="lt1"/>
            </a:solidFill>
          </a:ln>
          <a:effectLst/>
        </c:spPr>
      </c:pivotFmt>
      <c:pivotFmt>
        <c:idx val="25"/>
        <c:spPr>
          <a:solidFill>
            <a:schemeClr val="accent1">
              <a:tint val="58000"/>
            </a:schemeClr>
          </a:solidFill>
          <a:ln w="19050">
            <a:solidFill>
              <a:schemeClr val="lt1"/>
            </a:solidFill>
          </a:ln>
          <a:effectLst/>
        </c:spPr>
      </c:pivotFmt>
    </c:pivotFmts>
    <c:plotArea>
      <c:layout>
        <c:manualLayout>
          <c:layoutTarget val="inner"/>
          <c:xMode val="edge"/>
          <c:yMode val="edge"/>
          <c:x val="0.24624948061639948"/>
          <c:y val="0.1941466882688202"/>
          <c:w val="0.47120418848167539"/>
          <c:h val="0.8571428571428571"/>
        </c:manualLayout>
      </c:layout>
      <c:doughnutChart>
        <c:varyColors val="1"/>
        <c:ser>
          <c:idx val="0"/>
          <c:order val="0"/>
          <c:tx>
            <c:strRef>
              <c:f>'Q-9 Daily Avg Resolution Time'!$B$21</c:f>
              <c:strCache>
                <c:ptCount val="1"/>
                <c:pt idx="0">
                  <c:v>Total</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7F03-4F60-9EEB-80D4D7593790}"/>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7F03-4F60-9EEB-80D4D7593790}"/>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7F03-4F60-9EEB-80D4D7593790}"/>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7F03-4F60-9EEB-80D4D7593790}"/>
              </c:ext>
            </c:extLst>
          </c:dPt>
          <c:cat>
            <c:strRef>
              <c:f>'Q-9 Daily Avg Resolution Time'!$A$22:$A$26</c:f>
              <c:strCache>
                <c:ptCount val="4"/>
                <c:pt idx="0">
                  <c:v>Hardware</c:v>
                </c:pt>
                <c:pt idx="1">
                  <c:v>Login Access</c:v>
                </c:pt>
                <c:pt idx="2">
                  <c:v>Software</c:v>
                </c:pt>
                <c:pt idx="3">
                  <c:v>System</c:v>
                </c:pt>
              </c:strCache>
            </c:strRef>
          </c:cat>
          <c:val>
            <c:numRef>
              <c:f>'Q-9 Daily Avg Resolution Time'!$B$22:$B$26</c:f>
              <c:numCache>
                <c:formatCode>0.0</c:formatCode>
                <c:ptCount val="4"/>
                <c:pt idx="0">
                  <c:v>7.6253981300729503</c:v>
                </c:pt>
                <c:pt idx="1">
                  <c:v>0.3</c:v>
                </c:pt>
                <c:pt idx="2">
                  <c:v>5.2387327542156399</c:v>
                </c:pt>
                <c:pt idx="3">
                  <c:v>6.6156094559253402</c:v>
                </c:pt>
              </c:numCache>
            </c:numRef>
          </c:val>
          <c:extLst>
            <c:ext xmlns:c16="http://schemas.microsoft.com/office/drawing/2014/chart" uri="{C3380CC4-5D6E-409C-BE32-E72D297353CC}">
              <c16:uniqueId val="{00000008-7F03-4F60-9EEB-80D4D759379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Analysis-ravi.xlsx]Q-9 Daily Avg Resolution Time!PivotTable5</c:name>
    <c:fmtId val="443"/>
  </c:pivotSource>
  <c:chart>
    <c:autoTitleDeleted val="1"/>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hade val="58000"/>
            </a:schemeClr>
          </a:solidFill>
          <a:ln w="19050">
            <a:solidFill>
              <a:schemeClr val="lt1"/>
            </a:solidFill>
          </a:ln>
          <a:effectLst/>
        </c:spPr>
      </c:pivotFmt>
      <c:pivotFmt>
        <c:idx val="18"/>
        <c:spPr>
          <a:solidFill>
            <a:schemeClr val="accent1">
              <a:shade val="86000"/>
            </a:schemeClr>
          </a:solidFill>
          <a:ln w="19050">
            <a:solidFill>
              <a:schemeClr val="lt1"/>
            </a:solidFill>
          </a:ln>
          <a:effectLst/>
        </c:spPr>
      </c:pivotFmt>
      <c:pivotFmt>
        <c:idx val="19"/>
        <c:spPr>
          <a:solidFill>
            <a:schemeClr val="accent1">
              <a:tint val="86000"/>
            </a:schemeClr>
          </a:solidFill>
          <a:ln w="19050">
            <a:solidFill>
              <a:schemeClr val="lt1"/>
            </a:solidFill>
          </a:ln>
          <a:effectLst/>
        </c:spPr>
      </c:pivotFmt>
      <c:pivotFmt>
        <c:idx val="20"/>
        <c:spPr>
          <a:solidFill>
            <a:schemeClr val="accent1">
              <a:tint val="58000"/>
            </a:schemeClr>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hade val="58000"/>
            </a:schemeClr>
          </a:solidFill>
          <a:ln w="19050">
            <a:solidFill>
              <a:schemeClr val="lt1"/>
            </a:solidFill>
          </a:ln>
          <a:effectLst/>
        </c:spPr>
      </c:pivotFmt>
      <c:pivotFmt>
        <c:idx val="23"/>
        <c:spPr>
          <a:solidFill>
            <a:schemeClr val="accent1">
              <a:shade val="86000"/>
            </a:schemeClr>
          </a:solidFill>
          <a:ln w="19050">
            <a:solidFill>
              <a:schemeClr val="lt1"/>
            </a:solidFill>
          </a:ln>
          <a:effectLst/>
        </c:spPr>
      </c:pivotFmt>
      <c:pivotFmt>
        <c:idx val="24"/>
        <c:spPr>
          <a:solidFill>
            <a:schemeClr val="accent1">
              <a:tint val="86000"/>
            </a:schemeClr>
          </a:solidFill>
          <a:ln w="19050">
            <a:solidFill>
              <a:schemeClr val="lt1"/>
            </a:solidFill>
          </a:ln>
          <a:effectLst/>
        </c:spPr>
      </c:pivotFmt>
      <c:pivotFmt>
        <c:idx val="25"/>
        <c:spPr>
          <a:solidFill>
            <a:schemeClr val="accent1">
              <a:tint val="58000"/>
            </a:schemeClr>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hade val="58000"/>
            </a:schemeClr>
          </a:solidFill>
          <a:ln w="19050">
            <a:solidFill>
              <a:schemeClr val="lt1"/>
            </a:solidFill>
          </a:ln>
          <a:effectLst/>
        </c:spPr>
      </c:pivotFmt>
      <c:pivotFmt>
        <c:idx val="28"/>
        <c:spPr>
          <a:solidFill>
            <a:schemeClr val="accent1">
              <a:shade val="86000"/>
            </a:schemeClr>
          </a:solidFill>
          <a:ln w="19050">
            <a:solidFill>
              <a:schemeClr val="lt1"/>
            </a:solidFill>
          </a:ln>
          <a:effectLst/>
        </c:spPr>
      </c:pivotFmt>
      <c:pivotFmt>
        <c:idx val="29"/>
        <c:spPr>
          <a:solidFill>
            <a:schemeClr val="accent1">
              <a:tint val="86000"/>
            </a:schemeClr>
          </a:solidFill>
          <a:ln w="19050">
            <a:solidFill>
              <a:schemeClr val="lt1"/>
            </a:solidFill>
          </a:ln>
          <a:effectLst/>
        </c:spPr>
      </c:pivotFmt>
      <c:pivotFmt>
        <c:idx val="30"/>
        <c:spPr>
          <a:solidFill>
            <a:schemeClr val="accent1">
              <a:tint val="58000"/>
            </a:schemeClr>
          </a:solidFill>
          <a:ln w="19050">
            <a:solidFill>
              <a:schemeClr val="lt1"/>
            </a:solidFill>
          </a:ln>
          <a:effectLst/>
        </c:spPr>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hade val="58000"/>
            </a:schemeClr>
          </a:solidFill>
          <a:ln w="19050">
            <a:solidFill>
              <a:schemeClr val="lt1"/>
            </a:solidFill>
          </a:ln>
          <a:effectLst/>
        </c:spPr>
      </c:pivotFmt>
      <c:pivotFmt>
        <c:idx val="33"/>
        <c:spPr>
          <a:solidFill>
            <a:schemeClr val="accent1">
              <a:shade val="86000"/>
            </a:schemeClr>
          </a:solidFill>
          <a:ln w="19050">
            <a:solidFill>
              <a:schemeClr val="lt1"/>
            </a:solidFill>
          </a:ln>
          <a:effectLst/>
        </c:spPr>
      </c:pivotFmt>
      <c:pivotFmt>
        <c:idx val="34"/>
        <c:spPr>
          <a:solidFill>
            <a:schemeClr val="accent1">
              <a:tint val="86000"/>
            </a:schemeClr>
          </a:solidFill>
          <a:ln w="19050">
            <a:solidFill>
              <a:schemeClr val="lt1"/>
            </a:solidFill>
          </a:ln>
          <a:effectLst/>
        </c:spPr>
      </c:pivotFmt>
      <c:pivotFmt>
        <c:idx val="35"/>
        <c:spPr>
          <a:solidFill>
            <a:schemeClr val="accent1">
              <a:tint val="58000"/>
            </a:schemeClr>
          </a:solidFill>
          <a:ln w="19050">
            <a:solidFill>
              <a:schemeClr val="lt1"/>
            </a:solidFill>
          </a:ln>
          <a:effectLst/>
        </c:spPr>
      </c:pivotFmt>
    </c:pivotFmts>
    <c:plotArea>
      <c:layout>
        <c:manualLayout>
          <c:layoutTarget val="inner"/>
          <c:xMode val="edge"/>
          <c:yMode val="edge"/>
          <c:x val="0.2589892159846936"/>
          <c:y val="0.28752487169406038"/>
          <c:w val="0.48095040751485013"/>
          <c:h val="0.77587282721735251"/>
        </c:manualLayout>
      </c:layout>
      <c:doughnutChart>
        <c:varyColors val="1"/>
        <c:ser>
          <c:idx val="0"/>
          <c:order val="0"/>
          <c:tx>
            <c:strRef>
              <c:f>'Q-9 Daily Avg Resolution Time'!$B$21</c:f>
              <c:strCache>
                <c:ptCount val="1"/>
                <c:pt idx="0">
                  <c:v>Total</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B9B-41D4-A63B-B6C08119A652}"/>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B9B-41D4-A63B-B6C08119A652}"/>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B9B-41D4-A63B-B6C08119A652}"/>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B9B-41D4-A63B-B6C08119A652}"/>
              </c:ext>
            </c:extLst>
          </c:dPt>
          <c:cat>
            <c:strRef>
              <c:f>'Q-9 Daily Avg Resolution Time'!$A$22:$A$26</c:f>
              <c:strCache>
                <c:ptCount val="4"/>
                <c:pt idx="0">
                  <c:v>Hardware</c:v>
                </c:pt>
                <c:pt idx="1">
                  <c:v>Login Access</c:v>
                </c:pt>
                <c:pt idx="2">
                  <c:v>Software</c:v>
                </c:pt>
                <c:pt idx="3">
                  <c:v>System</c:v>
                </c:pt>
              </c:strCache>
            </c:strRef>
          </c:cat>
          <c:val>
            <c:numRef>
              <c:f>'Q-9 Daily Avg Resolution Time'!$B$22:$B$26</c:f>
              <c:numCache>
                <c:formatCode>0.0</c:formatCode>
                <c:ptCount val="4"/>
                <c:pt idx="0">
                  <c:v>7.6253981300729503</c:v>
                </c:pt>
                <c:pt idx="1">
                  <c:v>0.3</c:v>
                </c:pt>
                <c:pt idx="2">
                  <c:v>5.2387327542156399</c:v>
                </c:pt>
                <c:pt idx="3">
                  <c:v>6.6156094559253402</c:v>
                </c:pt>
              </c:numCache>
            </c:numRef>
          </c:val>
          <c:extLst>
            <c:ext xmlns:c16="http://schemas.microsoft.com/office/drawing/2014/chart" uri="{C3380CC4-5D6E-409C-BE32-E72D297353CC}">
              <c16:uniqueId val="{00000008-9B9B-41D4-A63B-B6C08119A65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Analysis-ravi.xlsx]Q-9 Daily Avg Resolution Time!PivotTable5</c:name>
    <c:fmtId val="444"/>
  </c:pivotSource>
  <c:chart>
    <c:autoTitleDeleted val="1"/>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hade val="58000"/>
            </a:schemeClr>
          </a:solidFill>
          <a:ln w="19050">
            <a:solidFill>
              <a:schemeClr val="lt1"/>
            </a:solidFill>
          </a:ln>
          <a:effectLst/>
        </c:spPr>
      </c:pivotFmt>
      <c:pivotFmt>
        <c:idx val="18"/>
        <c:spPr>
          <a:solidFill>
            <a:schemeClr val="accent1">
              <a:shade val="86000"/>
            </a:schemeClr>
          </a:solidFill>
          <a:ln w="19050">
            <a:solidFill>
              <a:schemeClr val="lt1"/>
            </a:solidFill>
          </a:ln>
          <a:effectLst/>
        </c:spPr>
      </c:pivotFmt>
      <c:pivotFmt>
        <c:idx val="19"/>
        <c:spPr>
          <a:solidFill>
            <a:schemeClr val="accent1">
              <a:tint val="86000"/>
            </a:schemeClr>
          </a:solidFill>
          <a:ln w="19050">
            <a:solidFill>
              <a:schemeClr val="lt1"/>
            </a:solidFill>
          </a:ln>
          <a:effectLst/>
        </c:spPr>
      </c:pivotFmt>
      <c:pivotFmt>
        <c:idx val="20"/>
        <c:spPr>
          <a:solidFill>
            <a:schemeClr val="accent1">
              <a:tint val="58000"/>
            </a:schemeClr>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hade val="58000"/>
            </a:schemeClr>
          </a:solidFill>
          <a:ln w="19050">
            <a:solidFill>
              <a:schemeClr val="lt1"/>
            </a:solidFill>
          </a:ln>
          <a:effectLst/>
        </c:spPr>
      </c:pivotFmt>
      <c:pivotFmt>
        <c:idx val="23"/>
        <c:spPr>
          <a:solidFill>
            <a:schemeClr val="accent1">
              <a:shade val="86000"/>
            </a:schemeClr>
          </a:solidFill>
          <a:ln w="19050">
            <a:solidFill>
              <a:schemeClr val="lt1"/>
            </a:solidFill>
          </a:ln>
          <a:effectLst/>
        </c:spPr>
      </c:pivotFmt>
      <c:pivotFmt>
        <c:idx val="24"/>
        <c:spPr>
          <a:solidFill>
            <a:schemeClr val="accent1">
              <a:tint val="86000"/>
            </a:schemeClr>
          </a:solidFill>
          <a:ln w="19050">
            <a:solidFill>
              <a:schemeClr val="lt1"/>
            </a:solidFill>
          </a:ln>
          <a:effectLst/>
        </c:spPr>
      </c:pivotFmt>
      <c:pivotFmt>
        <c:idx val="25"/>
        <c:spPr>
          <a:solidFill>
            <a:schemeClr val="accent1">
              <a:tint val="58000"/>
            </a:schemeClr>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hade val="58000"/>
            </a:schemeClr>
          </a:solidFill>
          <a:ln w="19050">
            <a:solidFill>
              <a:schemeClr val="lt1"/>
            </a:solidFill>
          </a:ln>
          <a:effectLst/>
        </c:spPr>
      </c:pivotFmt>
      <c:pivotFmt>
        <c:idx val="28"/>
        <c:spPr>
          <a:solidFill>
            <a:schemeClr val="accent1">
              <a:shade val="86000"/>
            </a:schemeClr>
          </a:solidFill>
          <a:ln w="19050">
            <a:solidFill>
              <a:schemeClr val="lt1"/>
            </a:solidFill>
          </a:ln>
          <a:effectLst/>
        </c:spPr>
      </c:pivotFmt>
      <c:pivotFmt>
        <c:idx val="29"/>
        <c:spPr>
          <a:solidFill>
            <a:schemeClr val="accent1">
              <a:tint val="86000"/>
            </a:schemeClr>
          </a:solidFill>
          <a:ln w="19050">
            <a:solidFill>
              <a:schemeClr val="lt1"/>
            </a:solidFill>
          </a:ln>
          <a:effectLst/>
        </c:spPr>
      </c:pivotFmt>
      <c:pivotFmt>
        <c:idx val="30"/>
        <c:spPr>
          <a:solidFill>
            <a:schemeClr val="accent1">
              <a:tint val="58000"/>
            </a:schemeClr>
          </a:solidFill>
          <a:ln w="19050">
            <a:solidFill>
              <a:schemeClr val="lt1"/>
            </a:solidFill>
          </a:ln>
          <a:effectLst/>
        </c:spPr>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hade val="58000"/>
            </a:schemeClr>
          </a:solidFill>
          <a:ln w="19050">
            <a:solidFill>
              <a:schemeClr val="lt1"/>
            </a:solidFill>
          </a:ln>
          <a:effectLst/>
        </c:spPr>
      </c:pivotFmt>
      <c:pivotFmt>
        <c:idx val="33"/>
        <c:spPr>
          <a:solidFill>
            <a:schemeClr val="accent1">
              <a:shade val="86000"/>
            </a:schemeClr>
          </a:solidFill>
          <a:ln w="19050">
            <a:solidFill>
              <a:schemeClr val="lt1"/>
            </a:solidFill>
          </a:ln>
          <a:effectLst/>
        </c:spPr>
      </c:pivotFmt>
      <c:pivotFmt>
        <c:idx val="34"/>
        <c:spPr>
          <a:solidFill>
            <a:schemeClr val="accent1">
              <a:tint val="86000"/>
            </a:schemeClr>
          </a:solidFill>
          <a:ln w="19050">
            <a:solidFill>
              <a:schemeClr val="lt1"/>
            </a:solidFill>
          </a:ln>
          <a:effectLst/>
        </c:spPr>
      </c:pivotFmt>
      <c:pivotFmt>
        <c:idx val="35"/>
        <c:spPr>
          <a:solidFill>
            <a:schemeClr val="accent1">
              <a:tint val="58000"/>
            </a:schemeClr>
          </a:solidFill>
          <a:ln w="19050">
            <a:solidFill>
              <a:schemeClr val="lt1"/>
            </a:solidFill>
          </a:ln>
          <a:effectLst/>
        </c:spPr>
      </c:pivotFmt>
    </c:pivotFmts>
    <c:plotArea>
      <c:layout>
        <c:manualLayout>
          <c:layoutTarget val="inner"/>
          <c:xMode val="edge"/>
          <c:yMode val="edge"/>
          <c:x val="0.29302692500516087"/>
          <c:y val="0.22882157978427881"/>
          <c:w val="0.47120418848167539"/>
          <c:h val="0.8571428571428571"/>
        </c:manualLayout>
      </c:layout>
      <c:doughnutChart>
        <c:varyColors val="1"/>
        <c:ser>
          <c:idx val="0"/>
          <c:order val="0"/>
          <c:tx>
            <c:strRef>
              <c:f>'Q-9 Daily Avg Resolution Time'!$B$21</c:f>
              <c:strCache>
                <c:ptCount val="1"/>
                <c:pt idx="0">
                  <c:v>Total</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05D-4F9E-846C-35DEF254510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05D-4F9E-846C-35DEF254510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05D-4F9E-846C-35DEF254510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05D-4F9E-846C-35DEF2545109}"/>
              </c:ext>
            </c:extLst>
          </c:dPt>
          <c:cat>
            <c:strRef>
              <c:f>'Q-9 Daily Avg Resolution Time'!$A$22:$A$26</c:f>
              <c:strCache>
                <c:ptCount val="4"/>
                <c:pt idx="0">
                  <c:v>Hardware</c:v>
                </c:pt>
                <c:pt idx="1">
                  <c:v>Login Access</c:v>
                </c:pt>
                <c:pt idx="2">
                  <c:v>Software</c:v>
                </c:pt>
                <c:pt idx="3">
                  <c:v>System</c:v>
                </c:pt>
              </c:strCache>
            </c:strRef>
          </c:cat>
          <c:val>
            <c:numRef>
              <c:f>'Q-9 Daily Avg Resolution Time'!$B$22:$B$26</c:f>
              <c:numCache>
                <c:formatCode>0.0</c:formatCode>
                <c:ptCount val="4"/>
                <c:pt idx="0">
                  <c:v>7.6253981300729503</c:v>
                </c:pt>
                <c:pt idx="1">
                  <c:v>0.3</c:v>
                </c:pt>
                <c:pt idx="2">
                  <c:v>5.2387327542156399</c:v>
                </c:pt>
                <c:pt idx="3">
                  <c:v>6.6156094559253402</c:v>
                </c:pt>
              </c:numCache>
            </c:numRef>
          </c:val>
          <c:extLst>
            <c:ext xmlns:c16="http://schemas.microsoft.com/office/drawing/2014/chart" uri="{C3380CC4-5D6E-409C-BE32-E72D297353CC}">
              <c16:uniqueId val="{00000008-A05D-4F9E-846C-35DEF254510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Analysis-ravi.xlsx]Q-9 Daily Avg Resolution Time!PivotTable5</c:name>
    <c:fmtId val="445"/>
  </c:pivotSource>
  <c:chart>
    <c:autoTitleDeleted val="1"/>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hade val="58000"/>
            </a:schemeClr>
          </a:solidFill>
          <a:ln w="19050">
            <a:solidFill>
              <a:schemeClr val="lt1"/>
            </a:solidFill>
          </a:ln>
          <a:effectLst/>
        </c:spPr>
      </c:pivotFmt>
      <c:pivotFmt>
        <c:idx val="18"/>
        <c:spPr>
          <a:solidFill>
            <a:schemeClr val="accent1">
              <a:shade val="86000"/>
            </a:schemeClr>
          </a:solidFill>
          <a:ln w="19050">
            <a:solidFill>
              <a:schemeClr val="lt1"/>
            </a:solidFill>
          </a:ln>
          <a:effectLst/>
        </c:spPr>
      </c:pivotFmt>
      <c:pivotFmt>
        <c:idx val="19"/>
        <c:spPr>
          <a:solidFill>
            <a:schemeClr val="accent1">
              <a:tint val="86000"/>
            </a:schemeClr>
          </a:solidFill>
          <a:ln w="19050">
            <a:solidFill>
              <a:schemeClr val="lt1"/>
            </a:solidFill>
          </a:ln>
          <a:effectLst/>
        </c:spPr>
      </c:pivotFmt>
      <c:pivotFmt>
        <c:idx val="20"/>
        <c:spPr>
          <a:solidFill>
            <a:schemeClr val="accent1">
              <a:tint val="58000"/>
            </a:schemeClr>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hade val="58000"/>
            </a:schemeClr>
          </a:solidFill>
          <a:ln w="19050">
            <a:solidFill>
              <a:schemeClr val="lt1"/>
            </a:solidFill>
          </a:ln>
          <a:effectLst/>
        </c:spPr>
      </c:pivotFmt>
      <c:pivotFmt>
        <c:idx val="23"/>
        <c:spPr>
          <a:solidFill>
            <a:schemeClr val="accent1">
              <a:shade val="86000"/>
            </a:schemeClr>
          </a:solidFill>
          <a:ln w="19050">
            <a:solidFill>
              <a:schemeClr val="lt1"/>
            </a:solidFill>
          </a:ln>
          <a:effectLst/>
        </c:spPr>
      </c:pivotFmt>
      <c:pivotFmt>
        <c:idx val="24"/>
        <c:spPr>
          <a:solidFill>
            <a:schemeClr val="accent1">
              <a:tint val="86000"/>
            </a:schemeClr>
          </a:solidFill>
          <a:ln w="19050">
            <a:solidFill>
              <a:schemeClr val="lt1"/>
            </a:solidFill>
          </a:ln>
          <a:effectLst/>
        </c:spPr>
      </c:pivotFmt>
      <c:pivotFmt>
        <c:idx val="25"/>
        <c:spPr>
          <a:solidFill>
            <a:schemeClr val="accent1">
              <a:tint val="58000"/>
            </a:schemeClr>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hade val="58000"/>
            </a:schemeClr>
          </a:solidFill>
          <a:ln w="19050">
            <a:solidFill>
              <a:schemeClr val="lt1"/>
            </a:solidFill>
          </a:ln>
          <a:effectLst/>
        </c:spPr>
      </c:pivotFmt>
      <c:pivotFmt>
        <c:idx val="28"/>
        <c:spPr>
          <a:solidFill>
            <a:schemeClr val="accent1">
              <a:shade val="86000"/>
            </a:schemeClr>
          </a:solidFill>
          <a:ln w="19050">
            <a:solidFill>
              <a:schemeClr val="lt1"/>
            </a:solidFill>
          </a:ln>
          <a:effectLst/>
        </c:spPr>
      </c:pivotFmt>
      <c:pivotFmt>
        <c:idx val="29"/>
        <c:spPr>
          <a:solidFill>
            <a:schemeClr val="accent1">
              <a:tint val="86000"/>
            </a:schemeClr>
          </a:solidFill>
          <a:ln w="19050">
            <a:solidFill>
              <a:schemeClr val="lt1"/>
            </a:solidFill>
          </a:ln>
          <a:effectLst/>
        </c:spPr>
      </c:pivotFmt>
      <c:pivotFmt>
        <c:idx val="30"/>
        <c:spPr>
          <a:solidFill>
            <a:schemeClr val="accent1">
              <a:tint val="58000"/>
            </a:schemeClr>
          </a:solidFill>
          <a:ln w="19050">
            <a:solidFill>
              <a:schemeClr val="lt1"/>
            </a:solidFill>
          </a:ln>
          <a:effectLst/>
        </c:spPr>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hade val="58000"/>
            </a:schemeClr>
          </a:solidFill>
          <a:ln w="19050">
            <a:solidFill>
              <a:schemeClr val="lt1"/>
            </a:solidFill>
          </a:ln>
          <a:effectLst/>
        </c:spPr>
      </c:pivotFmt>
      <c:pivotFmt>
        <c:idx val="33"/>
        <c:spPr>
          <a:solidFill>
            <a:schemeClr val="accent1">
              <a:shade val="86000"/>
            </a:schemeClr>
          </a:solidFill>
          <a:ln w="19050">
            <a:solidFill>
              <a:schemeClr val="lt1"/>
            </a:solidFill>
          </a:ln>
          <a:effectLst/>
        </c:spPr>
      </c:pivotFmt>
      <c:pivotFmt>
        <c:idx val="34"/>
        <c:spPr>
          <a:solidFill>
            <a:schemeClr val="accent1">
              <a:tint val="86000"/>
            </a:schemeClr>
          </a:solidFill>
          <a:ln w="19050">
            <a:solidFill>
              <a:schemeClr val="lt1"/>
            </a:solidFill>
          </a:ln>
          <a:effectLst/>
        </c:spPr>
      </c:pivotFmt>
      <c:pivotFmt>
        <c:idx val="35"/>
        <c:spPr>
          <a:solidFill>
            <a:schemeClr val="accent1">
              <a:tint val="58000"/>
            </a:schemeClr>
          </a:solidFill>
          <a:ln w="19050">
            <a:solidFill>
              <a:schemeClr val="lt1"/>
            </a:solidFill>
          </a:ln>
          <a:effectLst/>
        </c:spPr>
      </c:pivotFmt>
    </c:pivotFmts>
    <c:plotArea>
      <c:layout>
        <c:manualLayout>
          <c:layoutTarget val="inner"/>
          <c:xMode val="edge"/>
          <c:yMode val="edge"/>
          <c:x val="0.36343080008257395"/>
          <c:y val="1.7423189748340281E-2"/>
          <c:w val="0.47120418848167539"/>
          <c:h val="0.8571428571428571"/>
        </c:manualLayout>
      </c:layout>
      <c:doughnutChart>
        <c:varyColors val="1"/>
        <c:ser>
          <c:idx val="0"/>
          <c:order val="0"/>
          <c:tx>
            <c:strRef>
              <c:f>'Q-9 Daily Avg Resolution Time'!$B$21</c:f>
              <c:strCache>
                <c:ptCount val="1"/>
                <c:pt idx="0">
                  <c:v>Total</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C5BC-4E0B-A6E8-6235BB07D03C}"/>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C5BC-4E0B-A6E8-6235BB07D03C}"/>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C5BC-4E0B-A6E8-6235BB07D03C}"/>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C5BC-4E0B-A6E8-6235BB07D03C}"/>
              </c:ext>
            </c:extLst>
          </c:dPt>
          <c:cat>
            <c:strRef>
              <c:f>'Q-9 Daily Avg Resolution Time'!$A$22:$A$26</c:f>
              <c:strCache>
                <c:ptCount val="4"/>
                <c:pt idx="0">
                  <c:v>Hardware</c:v>
                </c:pt>
                <c:pt idx="1">
                  <c:v>Login Access</c:v>
                </c:pt>
                <c:pt idx="2">
                  <c:v>Software</c:v>
                </c:pt>
                <c:pt idx="3">
                  <c:v>System</c:v>
                </c:pt>
              </c:strCache>
            </c:strRef>
          </c:cat>
          <c:val>
            <c:numRef>
              <c:f>'Q-9 Daily Avg Resolution Time'!$B$22:$B$26</c:f>
              <c:numCache>
                <c:formatCode>0.0</c:formatCode>
                <c:ptCount val="4"/>
                <c:pt idx="0">
                  <c:v>7.6253981300729503</c:v>
                </c:pt>
                <c:pt idx="1">
                  <c:v>0.3</c:v>
                </c:pt>
                <c:pt idx="2">
                  <c:v>5.2387327542156399</c:v>
                </c:pt>
                <c:pt idx="3">
                  <c:v>6.6156094559253402</c:v>
                </c:pt>
              </c:numCache>
            </c:numRef>
          </c:val>
          <c:extLst>
            <c:ext xmlns:c16="http://schemas.microsoft.com/office/drawing/2014/chart" uri="{C3380CC4-5D6E-409C-BE32-E72D297353CC}">
              <c16:uniqueId val="{00000008-C5BC-4E0B-A6E8-6235BB07D03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Analysis-ravi.xlsx]Q-9 Daily Avg Resolution Time!PivotTable5</c:name>
    <c:fmtId val="44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pivotFmt>
      <c:pivotFmt>
        <c:idx val="17"/>
        <c:spPr>
          <a:solidFill>
            <a:schemeClr val="accent1"/>
          </a:solidFill>
          <a:ln>
            <a:noFill/>
          </a:ln>
          <a:effectLst/>
        </c:spPr>
      </c:pivotFmt>
      <c:pivotFmt>
        <c:idx val="18"/>
        <c:spPr>
          <a:solidFill>
            <a:schemeClr val="accent1"/>
          </a:solidFill>
          <a:ln>
            <a:noFill/>
          </a:ln>
          <a:effectLst/>
        </c:spPr>
      </c:pivotFmt>
      <c:pivotFmt>
        <c:idx val="19"/>
        <c:spPr>
          <a:solidFill>
            <a:schemeClr val="accent1"/>
          </a:solidFill>
          <a:ln>
            <a:noFill/>
          </a:ln>
          <a:effectLst/>
        </c:spPr>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pivotFmt>
      <c:pivotFmt>
        <c:idx val="22"/>
        <c:spPr>
          <a:solidFill>
            <a:schemeClr val="accent1"/>
          </a:solidFill>
          <a:ln>
            <a:noFill/>
          </a:ln>
          <a:effectLst/>
        </c:spPr>
      </c:pivotFmt>
      <c:pivotFmt>
        <c:idx val="23"/>
        <c:spPr>
          <a:solidFill>
            <a:schemeClr val="accent1"/>
          </a:solidFill>
          <a:ln>
            <a:noFill/>
          </a:ln>
          <a:effectLst/>
        </c:spPr>
      </c:pivotFmt>
      <c:pivotFmt>
        <c:idx val="24"/>
        <c:spPr>
          <a:solidFill>
            <a:schemeClr val="accent1"/>
          </a:solidFill>
          <a:ln>
            <a:noFill/>
          </a:ln>
          <a:effectLst/>
        </c:spPr>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pivotFmt>
      <c:pivotFmt>
        <c:idx val="27"/>
        <c:spPr>
          <a:solidFill>
            <a:schemeClr val="accent1"/>
          </a:solidFill>
          <a:ln>
            <a:noFill/>
          </a:ln>
          <a:effectLst/>
        </c:spPr>
      </c:pivotFmt>
      <c:pivotFmt>
        <c:idx val="28"/>
        <c:spPr>
          <a:solidFill>
            <a:schemeClr val="accent1"/>
          </a:solidFill>
          <a:ln>
            <a:noFill/>
          </a:ln>
          <a:effectLst/>
        </c:spPr>
      </c:pivotFmt>
      <c:pivotFmt>
        <c:idx val="29"/>
        <c:spPr>
          <a:solidFill>
            <a:schemeClr val="accent1"/>
          </a:solidFill>
          <a:ln>
            <a:noFill/>
          </a:ln>
          <a:effectLst/>
        </c:spPr>
      </c:pivotFmt>
    </c:pivotFmts>
    <c:plotArea>
      <c:layout>
        <c:manualLayout>
          <c:layoutTarget val="inner"/>
          <c:xMode val="edge"/>
          <c:yMode val="edge"/>
          <c:x val="0.11525189382495138"/>
          <c:y val="7.7666670749209743E-2"/>
          <c:w val="0.82698636394055935"/>
          <c:h val="0.6268034301840727"/>
        </c:manualLayout>
      </c:layout>
      <c:barChart>
        <c:barDir val="col"/>
        <c:grouping val="clustered"/>
        <c:varyColors val="0"/>
        <c:ser>
          <c:idx val="0"/>
          <c:order val="0"/>
          <c:tx>
            <c:strRef>
              <c:f>'Q-9 Daily Avg Resolution Time'!$B$21</c:f>
              <c:strCache>
                <c:ptCount val="1"/>
                <c:pt idx="0">
                  <c:v>Total</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4F84-4F87-9440-050B778D97E5}"/>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4F84-4F87-9440-050B778D97E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4F84-4F87-9440-050B778D97E5}"/>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7-4F84-4F87-9440-050B778D97E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'Q-9 Daily Avg Resolution Time'!$A$22:$A$26</c:f>
              <c:strCache>
                <c:ptCount val="4"/>
                <c:pt idx="0">
                  <c:v>Hardware</c:v>
                </c:pt>
                <c:pt idx="1">
                  <c:v>Login Access</c:v>
                </c:pt>
                <c:pt idx="2">
                  <c:v>Software</c:v>
                </c:pt>
                <c:pt idx="3">
                  <c:v>System</c:v>
                </c:pt>
              </c:strCache>
            </c:strRef>
          </c:cat>
          <c:val>
            <c:numRef>
              <c:f>'Q-9 Daily Avg Resolution Time'!$B$22:$B$26</c:f>
              <c:numCache>
                <c:formatCode>0.0</c:formatCode>
                <c:ptCount val="4"/>
                <c:pt idx="0">
                  <c:v>7.6253981300729503</c:v>
                </c:pt>
                <c:pt idx="1">
                  <c:v>0.3</c:v>
                </c:pt>
                <c:pt idx="2">
                  <c:v>5.2387327542156399</c:v>
                </c:pt>
                <c:pt idx="3">
                  <c:v>6.6156094559253402</c:v>
                </c:pt>
              </c:numCache>
            </c:numRef>
          </c:val>
          <c:extLst>
            <c:ext xmlns:c16="http://schemas.microsoft.com/office/drawing/2014/chart" uri="{C3380CC4-5D6E-409C-BE32-E72D297353CC}">
              <c16:uniqueId val="{00000008-4F84-4F87-9440-050B778D97E5}"/>
            </c:ext>
          </c:extLst>
        </c:ser>
        <c:dLbls>
          <c:dLblPos val="outEnd"/>
          <c:showLegendKey val="0"/>
          <c:showVal val="1"/>
          <c:showCatName val="0"/>
          <c:showSerName val="0"/>
          <c:showPercent val="0"/>
          <c:showBubbleSize val="0"/>
        </c:dLbls>
        <c:gapWidth val="150"/>
        <c:axId val="2093929695"/>
        <c:axId val="2093930175"/>
      </c:barChart>
      <c:catAx>
        <c:axId val="20939296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2093930175"/>
        <c:crosses val="autoZero"/>
        <c:auto val="1"/>
        <c:lblAlgn val="ctr"/>
        <c:lblOffset val="100"/>
        <c:noMultiLvlLbl val="0"/>
      </c:catAx>
      <c:valAx>
        <c:axId val="2093930175"/>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20939296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Analysis-ravi.xlsx]5-Tickets by Resolution Time!PivotTable1</c:name>
    <c:fmtId val="9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'5-Tickets by Resolution Time'!$C$29</c:f>
              <c:strCache>
                <c:ptCount val="1"/>
                <c:pt idx="0">
                  <c:v>Count of ID Ticket</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'5-Tickets by Resolution Time'!$B$30:$B$42</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'5-Tickets by Resolution Time'!$C$30:$C$42</c:f>
              <c:numCache>
                <c:formatCode>General</c:formatCode>
                <c:ptCount val="12"/>
                <c:pt idx="0">
                  <c:v>7242</c:v>
                </c:pt>
                <c:pt idx="1">
                  <c:v>7901</c:v>
                </c:pt>
                <c:pt idx="2">
                  <c:v>8228</c:v>
                </c:pt>
                <c:pt idx="3">
                  <c:v>7937</c:v>
                </c:pt>
                <c:pt idx="4">
                  <c:v>8121</c:v>
                </c:pt>
                <c:pt idx="5">
                  <c:v>8141</c:v>
                </c:pt>
                <c:pt idx="6">
                  <c:v>8070</c:v>
                </c:pt>
                <c:pt idx="7">
                  <c:v>8489</c:v>
                </c:pt>
                <c:pt idx="8">
                  <c:v>8219</c:v>
                </c:pt>
                <c:pt idx="9">
                  <c:v>8495</c:v>
                </c:pt>
                <c:pt idx="10">
                  <c:v>8254</c:v>
                </c:pt>
                <c:pt idx="11">
                  <c:v>8401</c:v>
                </c:pt>
              </c:numCache>
            </c:numRef>
          </c:val>
          <c:extLst>
            <c:ext xmlns:c16="http://schemas.microsoft.com/office/drawing/2014/chart" uri="{C3380CC4-5D6E-409C-BE32-E72D297353CC}">
              <c16:uniqueId val="{00000000-2F39-4263-BC30-3962CA84AE7E}"/>
            </c:ext>
          </c:extLst>
        </c:ser>
        <c:ser>
          <c:idx val="1"/>
          <c:order val="1"/>
          <c:tx>
            <c:strRef>
              <c:f>'5-Tickets by Resolution Time'!$D$29</c:f>
              <c:strCache>
                <c:ptCount val="1"/>
                <c:pt idx="0">
                  <c:v>Sum of Resolution Time (Days)</c:v>
                </c:pt>
              </c:strCache>
            </c:strRef>
          </c:tx>
          <c:spPr>
            <a:solidFill>
              <a:schemeClr val="accent1">
                <a:tint val="77000"/>
              </a:schemeClr>
            </a:solidFill>
            <a:ln>
              <a:noFill/>
            </a:ln>
            <a:effectLst/>
          </c:spPr>
          <c:invertIfNegative val="0"/>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highlight>
                        <a:srgbClr val="FFFF00"/>
                      </a:highlight>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5876-43A7-AF6B-C605EE329BAE}"/>
                </c:ext>
              </c:extLst>
            </c:dLbl>
            <c:dLbl>
              <c:idx val="9"/>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highlight>
                        <a:srgbClr val="FFFF00"/>
                      </a:highlight>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2-5876-43A7-AF6B-C605EE329BAE}"/>
                </c:ext>
              </c:extLst>
            </c:dLbl>
            <c:dLbl>
              <c:idx val="11"/>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highlight>
                        <a:srgbClr val="FFFF00"/>
                      </a:highlight>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5876-43A7-AF6B-C605EE329BA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'5-Tickets by Resolution Time'!$B$30:$B$42</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'5-Tickets by Resolution Time'!$D$30:$D$42</c:f>
              <c:numCache>
                <c:formatCode>0.00</c:formatCode>
                <c:ptCount val="12"/>
                <c:pt idx="0">
                  <c:v>33138</c:v>
                </c:pt>
                <c:pt idx="1">
                  <c:v>36236</c:v>
                </c:pt>
                <c:pt idx="2">
                  <c:v>37497</c:v>
                </c:pt>
                <c:pt idx="3">
                  <c:v>36212</c:v>
                </c:pt>
                <c:pt idx="4">
                  <c:v>37043</c:v>
                </c:pt>
                <c:pt idx="5">
                  <c:v>37608</c:v>
                </c:pt>
                <c:pt idx="6">
                  <c:v>36755</c:v>
                </c:pt>
                <c:pt idx="7">
                  <c:v>38225</c:v>
                </c:pt>
                <c:pt idx="8">
                  <c:v>37003</c:v>
                </c:pt>
                <c:pt idx="9">
                  <c:v>38762</c:v>
                </c:pt>
                <c:pt idx="10">
                  <c:v>37187</c:v>
                </c:pt>
                <c:pt idx="11">
                  <c:v>38257</c:v>
                </c:pt>
              </c:numCache>
            </c:numRef>
          </c:val>
          <c:extLst>
            <c:ext xmlns:c16="http://schemas.microsoft.com/office/drawing/2014/chart" uri="{C3380CC4-5D6E-409C-BE32-E72D297353CC}">
              <c16:uniqueId val="{00000001-2F39-4263-BC30-3962CA84AE7E}"/>
            </c:ext>
          </c:extLst>
        </c:ser>
        <c:dLbls>
          <c:dLblPos val="inEnd"/>
          <c:showLegendKey val="0"/>
          <c:showVal val="1"/>
          <c:showCatName val="0"/>
          <c:showSerName val="0"/>
          <c:showPercent val="0"/>
          <c:showBubbleSize val="0"/>
        </c:dLbls>
        <c:gapWidth val="150"/>
        <c:axId val="784907344"/>
        <c:axId val="784918864"/>
      </c:barChart>
      <c:catAx>
        <c:axId val="78490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4918864"/>
        <c:crosses val="autoZero"/>
        <c:auto val="1"/>
        <c:lblAlgn val="ctr"/>
        <c:lblOffset val="100"/>
        <c:noMultiLvlLbl val="0"/>
      </c:catAx>
      <c:valAx>
        <c:axId val="7849188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4907344"/>
        <c:crosses val="autoZero"/>
        <c:crossBetween val="between"/>
      </c:valAx>
      <c:spPr>
        <a:noFill/>
        <a:ln>
          <a:noFill/>
        </a:ln>
        <a:effectLst/>
      </c:spPr>
    </c:plotArea>
    <c:legend>
      <c:legendPos val="b"/>
      <c:layout>
        <c:manualLayout>
          <c:xMode val="edge"/>
          <c:yMode val="edge"/>
          <c:x val="0.30171578407341959"/>
          <c:y val="0.93515804760716148"/>
          <c:w val="0.34664173189516712"/>
          <c:h val="6.484195239283850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Analysis-ravi.xlsx]4-Tickets by Satisfaction Rate!PivotTable3</c:name>
    <c:fmtId val="1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278795767837533"/>
          <c:y val="7.7935203107471165E-2"/>
          <c:w val="0.78742967726992219"/>
          <c:h val="0.8119180024326933"/>
        </c:manualLayout>
      </c:layout>
      <c:barChart>
        <c:barDir val="col"/>
        <c:grouping val="clustered"/>
        <c:varyColors val="0"/>
        <c:ser>
          <c:idx val="0"/>
          <c:order val="0"/>
          <c:tx>
            <c:strRef>
              <c:f>'4-Tickets by Satisfaction Rate'!$B$3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'4-Tickets by Satisfaction Rate'!$A$4:$A$9</c:f>
              <c:strCache>
                <c:ptCount val="5"/>
                <c:pt idx="0">
                  <c:v>1</c:v>
                </c:pt>
                <c:pt idx="1">
                  <c:v>2</c:v>
                </c:pt>
                <c:pt idx="2">
                  <c:v>3</c:v>
                </c:pt>
                <c:pt idx="3">
                  <c:v>4</c:v>
                </c:pt>
                <c:pt idx="4">
                  <c:v>5</c:v>
                </c:pt>
              </c:strCache>
            </c:strRef>
          </c:cat>
          <c:val>
            <c:numRef>
              <c:f>'4-Tickets by Satisfaction Rate'!$B$4:$B$9</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CE80-4E53-8E99-5DBC2AF25BD6}"/>
            </c:ext>
          </c:extLst>
        </c:ser>
        <c:dLbls>
          <c:dLblPos val="outEnd"/>
          <c:showLegendKey val="0"/>
          <c:showVal val="1"/>
          <c:showCatName val="0"/>
          <c:showSerName val="0"/>
          <c:showPercent val="0"/>
          <c:showBubbleSize val="0"/>
        </c:dLbls>
        <c:gapWidth val="150"/>
        <c:axId val="1232844224"/>
        <c:axId val="1232834144"/>
      </c:barChart>
      <c:catAx>
        <c:axId val="1232844224"/>
        <c:scaling>
          <c:orientation val="minMax"/>
        </c:scaling>
        <c:delete val="0"/>
        <c:axPos val="b"/>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sz="1100" dirty="0"/>
                  <a:t>Satisfaction</a:t>
                </a:r>
                <a:r>
                  <a:rPr lang="en-US" sz="1100" baseline="0" dirty="0"/>
                  <a:t> Score</a:t>
                </a:r>
                <a:endParaRPr lang="en-US" sz="1100" dirty="0"/>
              </a:p>
            </c:rich>
          </c:tx>
          <c:layout>
            <c:manualLayout>
              <c:xMode val="edge"/>
              <c:yMode val="edge"/>
              <c:x val="0.48119913795296115"/>
              <c:y val="0.9502051943756433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232834144"/>
        <c:crosses val="autoZero"/>
        <c:auto val="1"/>
        <c:lblAlgn val="ctr"/>
        <c:lblOffset val="100"/>
        <c:noMultiLvlLbl val="0"/>
      </c:catAx>
      <c:valAx>
        <c:axId val="1232834144"/>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r>
                  <a:rPr lang="en-US" baseline="0"/>
                  <a:t> of ID Tickets</a:t>
                </a:r>
                <a:endParaRPr lang="en-US"/>
              </a:p>
            </c:rich>
          </c:tx>
          <c:layout>
            <c:manualLayout>
              <c:xMode val="edge"/>
              <c:yMode val="edge"/>
              <c:x val="1.9444444444444445E-2"/>
              <c:y val="0.2912653105861767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232844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0.25222</cdr:x>
      <cdr:y>0.45158</cdr:y>
    </cdr:from>
    <cdr:to>
      <cdr:x>0.90439</cdr:x>
      <cdr:y>1</cdr:y>
    </cdr:to>
    <cdr:sp macro="" textlink="">
      <cdr:nvSpPr>
        <cdr:cNvPr id="2" name="TextBox 1">
          <a:extLst xmlns:a="http://schemas.openxmlformats.org/drawingml/2006/main">
            <a:ext uri="{FF2B5EF4-FFF2-40B4-BE49-F238E27FC236}">
              <a16:creationId xmlns:a16="http://schemas.microsoft.com/office/drawing/2014/main" id="{5D00DE14-BD99-EA06-3AE0-FB668B34A5F6}"/>
            </a:ext>
          </a:extLst>
        </cdr:cNvPr>
        <cdr:cNvSpPr txBox="1"/>
      </cdr:nvSpPr>
      <cdr:spPr>
        <a:xfrm xmlns:a="http://schemas.openxmlformats.org/drawingml/2006/main">
          <a:off x="431586" y="649155"/>
          <a:ext cx="1115969" cy="788356"/>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b="1" kern="1200" dirty="0">
              <a:solidFill>
                <a:schemeClr val="tx1"/>
              </a:solidFill>
            </a:rPr>
            <a:t>     39%</a:t>
          </a:r>
        </a:p>
      </cdr:txBody>
    </cdr:sp>
  </cdr:relSizeAnchor>
</c:userShapes>
</file>

<file path=ppt/drawings/drawing2.xml><?xml version="1.0" encoding="utf-8"?>
<c:userShapes xmlns:c="http://schemas.openxmlformats.org/drawingml/2006/chart">
  <cdr:relSizeAnchor xmlns:cdr="http://schemas.openxmlformats.org/drawingml/2006/chartDrawing">
    <cdr:from>
      <cdr:x>0.30287</cdr:x>
      <cdr:y>0.19514</cdr:y>
    </cdr:from>
    <cdr:to>
      <cdr:x>0.95504</cdr:x>
      <cdr:y>0.85368</cdr:y>
    </cdr:to>
    <cdr:sp macro="" textlink="">
      <cdr:nvSpPr>
        <cdr:cNvPr id="2" name="TextBox 1">
          <a:extLst xmlns:a="http://schemas.openxmlformats.org/drawingml/2006/main">
            <a:ext uri="{FF2B5EF4-FFF2-40B4-BE49-F238E27FC236}">
              <a16:creationId xmlns:a16="http://schemas.microsoft.com/office/drawing/2014/main" id="{5D00DE14-BD99-EA06-3AE0-FB668B34A5F6}"/>
            </a:ext>
          </a:extLst>
        </cdr:cNvPr>
        <cdr:cNvSpPr txBox="1"/>
      </cdr:nvSpPr>
      <cdr:spPr>
        <a:xfrm xmlns:a="http://schemas.openxmlformats.org/drawingml/2006/main">
          <a:off x="621401" y="297762"/>
          <a:ext cx="1338052" cy="100486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b="1" kern="1200" dirty="0">
              <a:solidFill>
                <a:schemeClr val="bg1"/>
              </a:solidFill>
            </a:rPr>
            <a:t>  </a:t>
          </a:r>
        </a:p>
        <a:p xmlns:a="http://schemas.openxmlformats.org/drawingml/2006/main">
          <a:r>
            <a:rPr lang="en-US" sz="1400" b="1" kern="1200" dirty="0">
              <a:solidFill>
                <a:schemeClr val="bg1"/>
              </a:solidFill>
            </a:rPr>
            <a:t>  </a:t>
          </a:r>
        </a:p>
        <a:p xmlns:a="http://schemas.openxmlformats.org/drawingml/2006/main">
          <a:r>
            <a:rPr lang="en-US" sz="1400" b="1" kern="1200" dirty="0">
              <a:solidFill>
                <a:schemeClr val="bg1"/>
              </a:solidFill>
            </a:rPr>
            <a:t>   </a:t>
          </a:r>
        </a:p>
        <a:p xmlns:a="http://schemas.openxmlformats.org/drawingml/2006/main">
          <a:r>
            <a:rPr lang="en-US" sz="1400" b="1" kern="1200" dirty="0">
              <a:solidFill>
                <a:schemeClr val="bg1"/>
              </a:solidFill>
            </a:rPr>
            <a:t>    </a:t>
          </a:r>
          <a:r>
            <a:rPr lang="en-US" sz="1400" b="1" kern="1200" dirty="0">
              <a:solidFill>
                <a:schemeClr val="tx1"/>
              </a:solidFill>
            </a:rPr>
            <a:t>2%</a:t>
          </a:r>
        </a:p>
      </cdr:txBody>
    </cdr:sp>
  </cdr:relSizeAnchor>
</c:userShapes>
</file>

<file path=ppt/drawings/drawing3.xml><?xml version="1.0" encoding="utf-8"?>
<c:userShapes xmlns:c="http://schemas.openxmlformats.org/drawingml/2006/chart">
  <cdr:relSizeAnchor xmlns:cdr="http://schemas.openxmlformats.org/drawingml/2006/chartDrawing">
    <cdr:from>
      <cdr:x>0.34783</cdr:x>
      <cdr:y>0.40876</cdr:y>
    </cdr:from>
    <cdr:to>
      <cdr:x>1</cdr:x>
      <cdr:y>0.89524</cdr:y>
    </cdr:to>
    <cdr:sp macro="" textlink="">
      <cdr:nvSpPr>
        <cdr:cNvPr id="2" name="TextBox 1">
          <a:extLst xmlns:a="http://schemas.openxmlformats.org/drawingml/2006/main">
            <a:ext uri="{FF2B5EF4-FFF2-40B4-BE49-F238E27FC236}">
              <a16:creationId xmlns:a16="http://schemas.microsoft.com/office/drawing/2014/main" id="{5D00DE14-BD99-EA06-3AE0-FB668B34A5F6}"/>
            </a:ext>
          </a:extLst>
        </cdr:cNvPr>
        <cdr:cNvSpPr txBox="1"/>
      </cdr:nvSpPr>
      <cdr:spPr>
        <a:xfrm xmlns:a="http://schemas.openxmlformats.org/drawingml/2006/main">
          <a:off x="471783" y="426719"/>
          <a:ext cx="884577" cy="50785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b="1" kern="1200" dirty="0">
              <a:solidFill>
                <a:schemeClr val="bg1"/>
              </a:solidFill>
            </a:rPr>
            <a:t>  </a:t>
          </a:r>
        </a:p>
        <a:p xmlns:a="http://schemas.openxmlformats.org/drawingml/2006/main">
          <a:r>
            <a:rPr lang="en-US" sz="1400" b="1" kern="1200" dirty="0">
              <a:solidFill>
                <a:schemeClr val="bg1"/>
              </a:solidFill>
            </a:rPr>
            <a:t>  </a:t>
          </a:r>
          <a:r>
            <a:rPr lang="en-US" sz="1400" b="1" kern="1200" dirty="0">
              <a:solidFill>
                <a:schemeClr val="tx1"/>
              </a:solidFill>
            </a:rPr>
            <a:t>26%</a:t>
          </a:r>
        </a:p>
      </cdr:txBody>
    </cdr:sp>
  </cdr:relSizeAnchor>
</c:userShapes>
</file>

<file path=ppt/drawings/drawing4.xml><?xml version="1.0" encoding="utf-8"?>
<c:userShapes xmlns:c="http://schemas.openxmlformats.org/drawingml/2006/chart">
  <cdr:relSizeAnchor xmlns:cdr="http://schemas.openxmlformats.org/drawingml/2006/chartDrawing">
    <cdr:from>
      <cdr:x>0.34783</cdr:x>
      <cdr:y>0.2367</cdr:y>
    </cdr:from>
    <cdr:to>
      <cdr:x>1</cdr:x>
      <cdr:y>0.89524</cdr:y>
    </cdr:to>
    <cdr:sp macro="" textlink="">
      <cdr:nvSpPr>
        <cdr:cNvPr id="2" name="TextBox 1">
          <a:extLst xmlns:a="http://schemas.openxmlformats.org/drawingml/2006/main">
            <a:ext uri="{FF2B5EF4-FFF2-40B4-BE49-F238E27FC236}">
              <a16:creationId xmlns:a16="http://schemas.microsoft.com/office/drawing/2014/main" id="{5D00DE14-BD99-EA06-3AE0-FB668B34A5F6}"/>
            </a:ext>
          </a:extLst>
        </cdr:cNvPr>
        <cdr:cNvSpPr txBox="1"/>
      </cdr:nvSpPr>
      <cdr:spPr>
        <a:xfrm xmlns:a="http://schemas.openxmlformats.org/drawingml/2006/main">
          <a:off x="506233" y="189385"/>
          <a:ext cx="949187" cy="52689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b="1" kern="1200" dirty="0">
              <a:solidFill>
                <a:schemeClr val="bg1"/>
              </a:solidFill>
            </a:rPr>
            <a:t>       </a:t>
          </a:r>
        </a:p>
        <a:p xmlns:a="http://schemas.openxmlformats.org/drawingml/2006/main">
          <a:r>
            <a:rPr lang="en-US" sz="1400" b="1" kern="1200" dirty="0">
              <a:solidFill>
                <a:schemeClr val="bg1"/>
              </a:solidFill>
            </a:rPr>
            <a:t>      </a:t>
          </a:r>
          <a:r>
            <a:rPr lang="en-US" sz="1400" b="1" kern="1200" dirty="0">
              <a:solidFill>
                <a:schemeClr val="tx1"/>
              </a:solidFill>
            </a:rPr>
            <a:t>33%</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7D141-FD59-CA42-A2C5-13B733D35E4F}" type="datetimeFigureOut">
              <a:rPr lang="en-US" smtClean="0"/>
              <a:t>24-Dec-25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5F8E2E-CAE4-B740-86B6-A7FBD3736581}" type="slidenum">
              <a:rPr lang="en-US" smtClean="0"/>
              <a:t>‹#›</a:t>
            </a:fld>
            <a:endParaRPr lang="en-US"/>
          </a:p>
        </p:txBody>
      </p:sp>
    </p:spTree>
    <p:extLst>
      <p:ext uri="{BB962C8B-B14F-4D97-AF65-F5344CB8AC3E}">
        <p14:creationId xmlns:p14="http://schemas.microsoft.com/office/powerpoint/2010/main" val="116215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5F8E2E-CAE4-B740-86B6-A7FBD3736581}" type="slidenum">
              <a:rPr lang="en-US" smtClean="0"/>
              <a:t>11</a:t>
            </a:fld>
            <a:endParaRPr lang="en-US"/>
          </a:p>
        </p:txBody>
      </p:sp>
    </p:spTree>
    <p:extLst>
      <p:ext uri="{BB962C8B-B14F-4D97-AF65-F5344CB8AC3E}">
        <p14:creationId xmlns:p14="http://schemas.microsoft.com/office/powerpoint/2010/main" val="1396544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85DB-4EE5-73A7-4F71-B6B0F17CC03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FFEFB68-482B-B910-8A7B-48FB04C3F0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5659621-2910-B369-8191-31CA18887BD1}"/>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04BA4A4C-2E76-A5A0-BA96-5A04ED632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CC7EF-34F0-59EA-7747-418073159917}"/>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2913418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FC62B-25A5-3702-6717-52C0A55CE2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92102FF-9B9D-BACB-1ED7-FAC2C5DC75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A208B0-6A9F-4980-69F5-3E53F6C094C0}"/>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AFA66829-3EF3-6051-76AF-9960DDC297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3DC80-2CE8-54E7-11D0-FF5323ADA267}"/>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4016030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B89A-5054-FD0C-492C-7CF83383D9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B7EE1C7-727D-5C20-4454-C1B28FF7A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4212B8C-9DFE-C516-DBD5-6BC77904E71A}"/>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D1CABC62-F2FF-871A-4B43-01C11F8A4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0D16C5-863A-37C2-F580-D2827871948D}"/>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736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9C9D-3319-2AFD-D803-7C30D7C32D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47BE624-6281-B772-9D6D-D431E8F8007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5E1C62E-F299-3CF2-440C-1D2D3960194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12960DF-7DD6-7C37-45F0-F675722F0101}"/>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6" name="Footer Placeholder 5">
            <a:extLst>
              <a:ext uri="{FF2B5EF4-FFF2-40B4-BE49-F238E27FC236}">
                <a16:creationId xmlns:a16="http://schemas.microsoft.com/office/drawing/2014/main" id="{6274A2C4-3F77-4ADD-5831-583F85E2B1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1321FD-9032-6878-19C4-FB88104607BA}"/>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604116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F712E-744A-F5B0-D08C-92D436BD3D9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5753CDC-0166-1DA3-7AF7-0EAE7BEA2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6EFE034-2D61-0870-2604-448685D0D10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DB42CF1-DB3C-500A-C522-360E8B664C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386578D-88C8-34AB-26D0-64F017C62F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2E25902-6482-1354-4752-737525727FCA}"/>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8" name="Footer Placeholder 7">
            <a:extLst>
              <a:ext uri="{FF2B5EF4-FFF2-40B4-BE49-F238E27FC236}">
                <a16:creationId xmlns:a16="http://schemas.microsoft.com/office/drawing/2014/main" id="{BBD6F7AF-20AA-BACF-867E-6B47E93C5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01BA68-A01E-5BE5-A767-95B7B7B5C326}"/>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2373406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69417-F1F1-649F-03DB-631615E5123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0CF9A4-3E57-AD52-9467-EC0622F38AD9}"/>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4" name="Footer Placeholder 3">
            <a:extLst>
              <a:ext uri="{FF2B5EF4-FFF2-40B4-BE49-F238E27FC236}">
                <a16:creationId xmlns:a16="http://schemas.microsoft.com/office/drawing/2014/main" id="{853EAADC-A418-8152-1703-1343C2F321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E738BF-4AFD-5D71-7842-48854E9CE4FB}"/>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273593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17E748-179C-AB19-4083-3DED4934764A}"/>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3" name="Footer Placeholder 2">
            <a:extLst>
              <a:ext uri="{FF2B5EF4-FFF2-40B4-BE49-F238E27FC236}">
                <a16:creationId xmlns:a16="http://schemas.microsoft.com/office/drawing/2014/main" id="{03FF6B6C-F332-2493-CE6B-CCB4DF5554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E0A19E-B6FD-23DF-4D15-053AAD74514B}"/>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3575152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7D11-FD64-55ED-C47C-6E09FF1ED6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CE489F9-C448-2D0D-79AF-37E737DC0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552C76A-BEFC-1B0F-B56A-0FF487523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E8B7B3D-D67D-21DB-BE1A-221D77379F04}"/>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6" name="Footer Placeholder 5">
            <a:extLst>
              <a:ext uri="{FF2B5EF4-FFF2-40B4-BE49-F238E27FC236}">
                <a16:creationId xmlns:a16="http://schemas.microsoft.com/office/drawing/2014/main" id="{6821304A-1BF2-3FF6-02F4-D63FAB686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F8C0B7-26A7-E2CE-DAD7-E17CC9E26FDA}"/>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63534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9840-3771-8724-98E6-379AD765CC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B559A41-5A40-A69B-E4FD-7774D69F62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4FA01-34D4-3831-33FB-2DB1D4B90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597720-2AAB-06A0-7453-1CD97A23A400}"/>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6" name="Footer Placeholder 5">
            <a:extLst>
              <a:ext uri="{FF2B5EF4-FFF2-40B4-BE49-F238E27FC236}">
                <a16:creationId xmlns:a16="http://schemas.microsoft.com/office/drawing/2014/main" id="{384F0BC5-734E-2200-7ACB-8D6EAB0F9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5FB2F-AD06-C39A-21B1-F9E646E40306}"/>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49690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9815-11CD-68C7-7D59-1874068C4C7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F436C4-D314-CF60-D1BF-5687BFECBEA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E5C62C-C69F-7AFA-6A4F-9053245BFAFC}"/>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A303EB87-D6A8-EA20-2CB9-FB20E14E4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20BE5-97B2-F755-C9A5-5746BA655B6D}"/>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74202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3D45B2-D8AE-6D22-8EB6-DF23C900ADF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F38E75-3437-87B4-9FC9-95C823F8A2A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A1528C-3A37-D2D9-2BBC-7AFFFD1A8402}"/>
              </a:ext>
            </a:extLst>
          </p:cNvPr>
          <p:cNvSpPr>
            <a:spLocks noGrp="1"/>
          </p:cNvSpPr>
          <p:nvPr>
            <p:ph type="dt" sz="half" idx="10"/>
          </p:nvPr>
        </p:nvSpPr>
        <p:spPr/>
        <p:txBody>
          <a:body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BD9D44E8-03C0-00C9-A193-52CE57D16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A7D7E3-0FB0-4068-E7CC-8D695358EFC7}"/>
              </a:ext>
            </a:extLst>
          </p:cNvPr>
          <p:cNvSpPr>
            <a:spLocks noGrp="1"/>
          </p:cNvSpPr>
          <p:nvPr>
            <p:ph type="sldNum" sz="quarter" idx="12"/>
          </p:nvPr>
        </p:nvSpPr>
        <p:spPr/>
        <p:txBody>
          <a:bodyPr/>
          <a:lstStyle/>
          <a:p>
            <a:fld id="{D26FCD6D-7B2C-0F4F-9563-64A8BFFA0BC9}" type="slidenum">
              <a:rPr lang="en-US" smtClean="0"/>
              <a:t>‹#›</a:t>
            </a:fld>
            <a:endParaRPr lang="en-US"/>
          </a:p>
        </p:txBody>
      </p:sp>
    </p:spTree>
    <p:extLst>
      <p:ext uri="{BB962C8B-B14F-4D97-AF65-F5344CB8AC3E}">
        <p14:creationId xmlns:p14="http://schemas.microsoft.com/office/powerpoint/2010/main" val="1074988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986F1-E279-50C0-953E-7A9EA39D27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6A54959-DE28-74A5-84FD-535565FE5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C1D215-BA51-F505-61A1-AAE146D7E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3C85A-4C6D-FB48-ACF6-E13DF41DDC2A}" type="datetimeFigureOut">
              <a:rPr lang="en-US" smtClean="0"/>
              <a:t>24-Dec-25</a:t>
            </a:fld>
            <a:endParaRPr lang="en-US"/>
          </a:p>
        </p:txBody>
      </p:sp>
      <p:sp>
        <p:nvSpPr>
          <p:cNvPr id="5" name="Footer Placeholder 4">
            <a:extLst>
              <a:ext uri="{FF2B5EF4-FFF2-40B4-BE49-F238E27FC236}">
                <a16:creationId xmlns:a16="http://schemas.microsoft.com/office/drawing/2014/main" id="{15D52DFD-B958-2E60-9CD2-674BF13325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86940A-7AA6-1520-6DC4-402BEC911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6FCD6D-7B2C-0F4F-9563-64A8BFFA0BC9}" type="slidenum">
              <a:rPr lang="en-US" smtClean="0"/>
              <a:t>‹#›</a:t>
            </a:fld>
            <a:endParaRPr lang="en-US"/>
          </a:p>
        </p:txBody>
      </p:sp>
    </p:spTree>
    <p:extLst>
      <p:ext uri="{BB962C8B-B14F-4D97-AF65-F5344CB8AC3E}">
        <p14:creationId xmlns:p14="http://schemas.microsoft.com/office/powerpoint/2010/main" val="39989628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flat customer support illustration">
            <a:extLst>
              <a:ext uri="{FF2B5EF4-FFF2-40B4-BE49-F238E27FC236}">
                <a16:creationId xmlns:a16="http://schemas.microsoft.com/office/drawing/2014/main" id="{6E50B9B2-FC8C-7378-D788-B34513A1A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96" y="1032045"/>
            <a:ext cx="7051729" cy="705172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9904DF-EC9B-2011-EB13-43D187FCD9D3}"/>
              </a:ext>
            </a:extLst>
          </p:cNvPr>
          <p:cNvSpPr txBox="1"/>
          <p:nvPr/>
        </p:nvSpPr>
        <p:spPr>
          <a:xfrm>
            <a:off x="4207678" y="630820"/>
            <a:ext cx="5052448" cy="646331"/>
          </a:xfrm>
          <a:prstGeom prst="rect">
            <a:avLst/>
          </a:prstGeom>
          <a:noFill/>
        </p:spPr>
        <p:txBody>
          <a:bodyPr wrap="square" rtlCol="0">
            <a:spAutoFit/>
          </a:bodyPr>
          <a:lstStyle/>
          <a:p>
            <a:r>
              <a:rPr lang="en-US" sz="3600" b="1" dirty="0">
                <a:latin typeface="Avenir Book" panose="02000503020000020003" pitchFamily="2" charset="0"/>
                <a:cs typeface="APPLE CHANCERY" panose="03020702040506060504" pitchFamily="66" charset="-79"/>
              </a:rPr>
              <a:t>IT TICKET ANALYSIS</a:t>
            </a:r>
          </a:p>
        </p:txBody>
      </p:sp>
      <p:sp>
        <p:nvSpPr>
          <p:cNvPr id="10" name="TextBox 9">
            <a:extLst>
              <a:ext uri="{FF2B5EF4-FFF2-40B4-BE49-F238E27FC236}">
                <a16:creationId xmlns:a16="http://schemas.microsoft.com/office/drawing/2014/main" id="{3F8957B5-BBE6-15E4-F87E-E70682E2216D}"/>
              </a:ext>
            </a:extLst>
          </p:cNvPr>
          <p:cNvSpPr txBox="1"/>
          <p:nvPr/>
        </p:nvSpPr>
        <p:spPr>
          <a:xfrm>
            <a:off x="8255000" y="4982956"/>
            <a:ext cx="3369733" cy="523220"/>
          </a:xfrm>
          <a:prstGeom prst="rect">
            <a:avLst/>
          </a:prstGeom>
          <a:noFill/>
        </p:spPr>
        <p:txBody>
          <a:bodyPr wrap="square" rtlCol="0">
            <a:spAutoFit/>
          </a:bodyPr>
          <a:lstStyle/>
          <a:p>
            <a:r>
              <a:rPr lang="en-US" sz="2800" dirty="0"/>
              <a:t>RAVI KANT MISHRA</a:t>
            </a:r>
          </a:p>
        </p:txBody>
      </p:sp>
    </p:spTree>
    <p:extLst>
      <p:ext uri="{BB962C8B-B14F-4D97-AF65-F5344CB8AC3E}">
        <p14:creationId xmlns:p14="http://schemas.microsoft.com/office/powerpoint/2010/main" val="4178749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F5988-9C72-9B8B-42FB-5A3FAF6D2A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064F73-EB3B-CDB8-F288-A5CB4F41D75C}"/>
              </a:ext>
            </a:extLst>
          </p:cNvPr>
          <p:cNvSpPr txBox="1"/>
          <p:nvPr/>
        </p:nvSpPr>
        <p:spPr>
          <a:xfrm>
            <a:off x="2939703" y="398132"/>
            <a:ext cx="6312593"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Problem Statement</a:t>
            </a:r>
          </a:p>
        </p:txBody>
      </p:sp>
      <p:sp>
        <p:nvSpPr>
          <p:cNvPr id="7" name="TextBox 6">
            <a:extLst>
              <a:ext uri="{FF2B5EF4-FFF2-40B4-BE49-F238E27FC236}">
                <a16:creationId xmlns:a16="http://schemas.microsoft.com/office/drawing/2014/main" id="{12BE6F1E-85E1-E107-DF19-24A6EC520D87}"/>
              </a:ext>
            </a:extLst>
          </p:cNvPr>
          <p:cNvSpPr txBox="1"/>
          <p:nvPr/>
        </p:nvSpPr>
        <p:spPr>
          <a:xfrm>
            <a:off x="5695325" y="2504767"/>
            <a:ext cx="6312593" cy="3416320"/>
          </a:xfrm>
          <a:prstGeom prst="rect">
            <a:avLst/>
          </a:prstGeom>
          <a:noFill/>
        </p:spPr>
        <p:txBody>
          <a:bodyPr wrap="square" rtlCol="0">
            <a:spAutoFit/>
          </a:bodyPr>
          <a:lstStyle/>
          <a:p>
            <a:pPr lvl="0">
              <a:buClr>
                <a:srgbClr val="000000"/>
              </a:buClr>
              <a:buSzPts val="1800"/>
            </a:pPr>
            <a:r>
              <a:rPr lang="en-US" dirty="0">
                <a:latin typeface="Lato"/>
                <a:ea typeface="Lato"/>
                <a:cs typeface="Lato"/>
                <a:sym typeface="Lato"/>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lang="en-US" dirty="0">
              <a:solidFill>
                <a:srgbClr val="000000"/>
              </a:solidFill>
              <a:latin typeface="Lato"/>
              <a:ea typeface="Lato"/>
              <a:cs typeface="Lato"/>
              <a:sym typeface="Lato"/>
            </a:endParaRPr>
          </a:p>
          <a:p>
            <a:br>
              <a:rPr lang="en-IN" dirty="0"/>
            </a:br>
            <a:endParaRPr lang="en-US" dirty="0">
              <a:latin typeface="Aptos Narrow" panose="020B0004020202020204" pitchFamily="34" charset="0"/>
            </a:endParaRPr>
          </a:p>
        </p:txBody>
      </p:sp>
      <p:pic>
        <p:nvPicPr>
          <p:cNvPr id="2" name="Picture 1">
            <a:extLst>
              <a:ext uri="{FF2B5EF4-FFF2-40B4-BE49-F238E27FC236}">
                <a16:creationId xmlns:a16="http://schemas.microsoft.com/office/drawing/2014/main" id="{A582440C-028E-34C6-8750-90771AE6F12D}"/>
              </a:ext>
            </a:extLst>
          </p:cNvPr>
          <p:cNvPicPr>
            <a:picLocks noChangeAspect="1"/>
          </p:cNvPicPr>
          <p:nvPr/>
        </p:nvPicPr>
        <p:blipFill>
          <a:blip r:embed="rId2"/>
          <a:stretch>
            <a:fillRect/>
          </a:stretch>
        </p:blipFill>
        <p:spPr>
          <a:xfrm>
            <a:off x="273267" y="1241046"/>
            <a:ext cx="5070297" cy="5070297"/>
          </a:xfrm>
          <a:prstGeom prst="rect">
            <a:avLst/>
          </a:prstGeom>
        </p:spPr>
      </p:pic>
    </p:spTree>
    <p:extLst>
      <p:ext uri="{BB962C8B-B14F-4D97-AF65-F5344CB8AC3E}">
        <p14:creationId xmlns:p14="http://schemas.microsoft.com/office/powerpoint/2010/main" val="1970006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65C2B0E-0907-B64F-6E01-7741F1F024DF}"/>
              </a:ext>
            </a:extLst>
          </p:cNvPr>
          <p:cNvSpPr txBox="1"/>
          <p:nvPr/>
        </p:nvSpPr>
        <p:spPr>
          <a:xfrm>
            <a:off x="3014572" y="0"/>
            <a:ext cx="6312593"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Tickets Sheet Data</a:t>
            </a:r>
          </a:p>
        </p:txBody>
      </p:sp>
      <p:pic>
        <p:nvPicPr>
          <p:cNvPr id="4" name="Picture 3">
            <a:extLst>
              <a:ext uri="{FF2B5EF4-FFF2-40B4-BE49-F238E27FC236}">
                <a16:creationId xmlns:a16="http://schemas.microsoft.com/office/drawing/2014/main" id="{8DAD777C-ABB7-8C0E-CD4D-E6BC94077A4C}"/>
              </a:ext>
            </a:extLst>
          </p:cNvPr>
          <p:cNvPicPr>
            <a:picLocks noChangeAspect="1"/>
          </p:cNvPicPr>
          <p:nvPr/>
        </p:nvPicPr>
        <p:blipFill>
          <a:blip r:embed="rId2"/>
          <a:stretch>
            <a:fillRect/>
          </a:stretch>
        </p:blipFill>
        <p:spPr>
          <a:xfrm>
            <a:off x="104775" y="584775"/>
            <a:ext cx="11953875" cy="6220167"/>
          </a:xfrm>
          <a:prstGeom prst="rect">
            <a:avLst/>
          </a:prstGeom>
        </p:spPr>
      </p:pic>
    </p:spTree>
    <p:extLst>
      <p:ext uri="{BB962C8B-B14F-4D97-AF65-F5344CB8AC3E}">
        <p14:creationId xmlns:p14="http://schemas.microsoft.com/office/powerpoint/2010/main" val="870230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6126F-F4C1-7625-173B-1A1067A0175F}"/>
              </a:ext>
            </a:extLst>
          </p:cNvPr>
          <p:cNvSpPr txBox="1"/>
          <p:nvPr/>
        </p:nvSpPr>
        <p:spPr>
          <a:xfrm>
            <a:off x="2551021" y="0"/>
            <a:ext cx="6312593"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IT Agents Sheet Data</a:t>
            </a:r>
          </a:p>
        </p:txBody>
      </p:sp>
      <p:pic>
        <p:nvPicPr>
          <p:cNvPr id="7" name="Picture 6">
            <a:extLst>
              <a:ext uri="{FF2B5EF4-FFF2-40B4-BE49-F238E27FC236}">
                <a16:creationId xmlns:a16="http://schemas.microsoft.com/office/drawing/2014/main" id="{7CBF95D4-BEC4-C2E5-0A2E-F6C81DA9F16F}"/>
              </a:ext>
            </a:extLst>
          </p:cNvPr>
          <p:cNvPicPr>
            <a:picLocks noChangeAspect="1"/>
          </p:cNvPicPr>
          <p:nvPr/>
        </p:nvPicPr>
        <p:blipFill>
          <a:blip r:embed="rId2"/>
          <a:stretch>
            <a:fillRect/>
          </a:stretch>
        </p:blipFill>
        <p:spPr>
          <a:xfrm>
            <a:off x="133350" y="584776"/>
            <a:ext cx="11953875" cy="6082724"/>
          </a:xfrm>
          <a:prstGeom prst="rect">
            <a:avLst/>
          </a:prstGeom>
        </p:spPr>
      </p:pic>
    </p:spTree>
    <p:extLst>
      <p:ext uri="{BB962C8B-B14F-4D97-AF65-F5344CB8AC3E}">
        <p14:creationId xmlns:p14="http://schemas.microsoft.com/office/powerpoint/2010/main" val="2765602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EE6A1D-5C43-D314-EC9E-6342E75EF88C}"/>
              </a:ext>
            </a:extLst>
          </p:cNvPr>
          <p:cNvSpPr txBox="1"/>
          <p:nvPr/>
        </p:nvSpPr>
        <p:spPr>
          <a:xfrm>
            <a:off x="527168" y="1079744"/>
            <a:ext cx="6017469" cy="5124480"/>
          </a:xfrm>
          <a:prstGeom prst="rect">
            <a:avLst/>
          </a:prstGeom>
          <a:noFill/>
        </p:spPr>
        <p:txBody>
          <a:bodyPr wrap="square">
            <a:spAutoFit/>
          </a:bodyPr>
          <a:lstStyle/>
          <a:p>
            <a:pPr marL="285750" indent="-285750" rtl="0" fontAlgn="base">
              <a:buFont typeface="Wingdings" pitchFamily="2" charset="2"/>
              <a:buChar char="Ø"/>
            </a:pPr>
            <a:r>
              <a:rPr lang="en-IN" sz="1800" b="1" i="0" u="none" strike="noStrike" dirty="0">
                <a:solidFill>
                  <a:srgbClr val="000000"/>
                </a:solidFill>
                <a:effectLst/>
                <a:latin typeface="Aptos Narrow" panose="020B0004020202020204" pitchFamily="34" charset="0"/>
              </a:rPr>
              <a:t>Tickets Sheet: </a:t>
            </a:r>
            <a:r>
              <a:rPr lang="en-IN" sz="1800" b="0" i="0" u="none" strike="noStrike" dirty="0">
                <a:solidFill>
                  <a:srgbClr val="000000"/>
                </a:solidFill>
                <a:effectLst/>
                <a:latin typeface="Aptos Narrow" panose="020B0004020202020204" pitchFamily="34" charset="0"/>
              </a:rPr>
              <a:t>Contains information about IT support tickets.</a:t>
            </a:r>
          </a:p>
          <a:p>
            <a:pPr marL="285750" indent="-285750" rtl="0" fontAlgn="base">
              <a:buFont typeface="Wingdings" pitchFamily="2" charset="2"/>
              <a:buChar char="Ø"/>
            </a:pPr>
            <a:endParaRPr lang="en-IN" sz="1800" b="0"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ID Ticket: </a:t>
            </a:r>
            <a:r>
              <a:rPr lang="en-IN" sz="1800" b="0" i="0" u="none" strike="noStrike" dirty="0">
                <a:solidFill>
                  <a:srgbClr val="000000"/>
                </a:solidFill>
                <a:effectLst/>
                <a:latin typeface="Aptos Narrow" panose="020B0004020202020204" pitchFamily="34" charset="0"/>
              </a:rPr>
              <a:t>Unique identifier for the ticket.</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err="1">
                <a:solidFill>
                  <a:srgbClr val="000000"/>
                </a:solidFill>
                <a:effectLst/>
                <a:latin typeface="Aptos Narrow" panose="020B0004020202020204" pitchFamily="34" charset="0"/>
              </a:rPr>
              <a:t>Fecha</a:t>
            </a:r>
            <a:r>
              <a:rPr lang="en-IN" sz="1800" b="1" i="0" u="none" strike="noStrike" dirty="0">
                <a:solidFill>
                  <a:srgbClr val="000000"/>
                </a:solidFill>
                <a:effectLst/>
                <a:latin typeface="Aptos Narrow" panose="020B0004020202020204" pitchFamily="34" charset="0"/>
              </a:rPr>
              <a:t>: </a:t>
            </a:r>
            <a:r>
              <a:rPr lang="en-IN" sz="1800" b="0" i="0" u="none" strike="noStrike" dirty="0">
                <a:solidFill>
                  <a:srgbClr val="000000"/>
                </a:solidFill>
                <a:effectLst/>
                <a:latin typeface="Aptos Narrow" panose="020B0004020202020204" pitchFamily="34" charset="0"/>
              </a:rPr>
              <a:t>Date of the ticket.</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Employee ID:</a:t>
            </a:r>
            <a:r>
              <a:rPr lang="en-IN" sz="1800" b="0" i="0" u="none" strike="noStrike" dirty="0">
                <a:solidFill>
                  <a:srgbClr val="000000"/>
                </a:solidFill>
                <a:effectLst/>
                <a:latin typeface="Aptos Narrow" panose="020B0004020202020204" pitchFamily="34" charset="0"/>
              </a:rPr>
              <a:t> ID of the employee who raised the ticket.</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Agent ID:</a:t>
            </a:r>
            <a:r>
              <a:rPr lang="en-IN" sz="1800" b="0" i="0" u="none" strike="noStrike" dirty="0">
                <a:solidFill>
                  <a:srgbClr val="000000"/>
                </a:solidFill>
                <a:effectLst/>
                <a:latin typeface="Aptos Narrow" panose="020B0004020202020204" pitchFamily="34" charset="0"/>
              </a:rPr>
              <a:t> ID of the agent assigned to the ticket.</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Request Category:</a:t>
            </a:r>
            <a:r>
              <a:rPr lang="en-IN" sz="1800" b="0" i="0" u="none" strike="noStrike" dirty="0">
                <a:solidFill>
                  <a:srgbClr val="000000"/>
                </a:solidFill>
                <a:effectLst/>
                <a:latin typeface="Aptos Narrow" panose="020B0004020202020204" pitchFamily="34" charset="0"/>
              </a:rPr>
              <a:t> Category of the request (e.g., Login Access, System, Software).</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Issue Type: </a:t>
            </a:r>
            <a:r>
              <a:rPr lang="en-IN" sz="1800" b="0" i="0" u="none" strike="noStrike" dirty="0">
                <a:solidFill>
                  <a:srgbClr val="000000"/>
                </a:solidFill>
                <a:effectLst/>
                <a:latin typeface="Aptos Narrow" panose="020B0004020202020204" pitchFamily="34" charset="0"/>
              </a:rPr>
              <a:t>Type of issue (e.g., IT Error, IT Request).</a:t>
            </a:r>
            <a:endParaRPr lang="en-IN" sz="1800" b="1" i="0" u="none" strike="noStrike" dirty="0">
              <a:solidFill>
                <a:srgbClr val="000000"/>
              </a:solidFill>
              <a:effectLst/>
              <a:latin typeface="Aptos Narrow" panose="020B0004020202020204" pitchFamily="34" charset="0"/>
            </a:endParaRP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Severity</a:t>
            </a:r>
            <a:r>
              <a:rPr lang="en-IN" sz="1800" b="0" i="0" u="none" strike="noStrike" dirty="0">
                <a:solidFill>
                  <a:srgbClr val="000000"/>
                </a:solidFill>
                <a:effectLst/>
                <a:latin typeface="Aptos Narrow" panose="020B0004020202020204" pitchFamily="34" charset="0"/>
              </a:rPr>
              <a:t>: Severity of the issue.</a:t>
            </a:r>
          </a:p>
          <a:p>
            <a:pPr marL="285750" indent="-285750" rtl="0" fontAlgn="base">
              <a:spcAft>
                <a:spcPts val="1000"/>
              </a:spcAft>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Priority: </a:t>
            </a:r>
            <a:r>
              <a:rPr lang="en-IN" sz="1800" b="0" i="0" u="none" strike="noStrike" dirty="0">
                <a:solidFill>
                  <a:srgbClr val="000000"/>
                </a:solidFill>
                <a:effectLst/>
                <a:latin typeface="Aptos Narrow" panose="020B0004020202020204" pitchFamily="34" charset="0"/>
              </a:rPr>
              <a:t>Priority level of the issue.</a:t>
            </a:r>
          </a:p>
          <a:p>
            <a:pPr marL="285750" indent="-285750" fontAlgn="base">
              <a:spcAft>
                <a:spcPts val="1000"/>
              </a:spcAft>
              <a:buFont typeface="Arial" panose="020B0604020202020204" pitchFamily="34" charset="0"/>
              <a:buChar char="•"/>
            </a:pPr>
            <a:r>
              <a:rPr lang="en-IN" b="1" dirty="0">
                <a:solidFill>
                  <a:srgbClr val="000000"/>
                </a:solidFill>
                <a:latin typeface="Aptos Narrow" panose="020B0004020202020204" pitchFamily="34" charset="0"/>
              </a:rPr>
              <a:t>Resolution Time (Days): </a:t>
            </a:r>
            <a:r>
              <a:rPr lang="en-IN" dirty="0">
                <a:solidFill>
                  <a:srgbClr val="000000"/>
                </a:solidFill>
                <a:latin typeface="Aptos Narrow" panose="020B0004020202020204" pitchFamily="34" charset="0"/>
              </a:rPr>
              <a:t>Time taken to resolve the ticket.</a:t>
            </a:r>
            <a:endParaRPr lang="en-IN" b="1" dirty="0">
              <a:solidFill>
                <a:srgbClr val="000000"/>
              </a:solidFill>
              <a:latin typeface="Aptos Narrow" panose="020B0004020202020204" pitchFamily="34" charset="0"/>
            </a:endParaRPr>
          </a:p>
          <a:p>
            <a:pPr marL="285750" indent="-285750" fontAlgn="base">
              <a:spcAft>
                <a:spcPts val="1000"/>
              </a:spcAft>
              <a:buFont typeface="Arial" panose="020B0604020202020204" pitchFamily="34" charset="0"/>
              <a:buChar char="•"/>
            </a:pPr>
            <a:r>
              <a:rPr lang="en-IN" b="1" dirty="0">
                <a:solidFill>
                  <a:srgbClr val="000000"/>
                </a:solidFill>
                <a:latin typeface="Aptos Narrow" panose="020B0004020202020204" pitchFamily="34" charset="0"/>
              </a:rPr>
              <a:t>Satisfaction Rate: </a:t>
            </a:r>
            <a:r>
              <a:rPr lang="en-IN" dirty="0">
                <a:solidFill>
                  <a:srgbClr val="000000"/>
                </a:solidFill>
                <a:latin typeface="Aptos Narrow" panose="020B0004020202020204" pitchFamily="34" charset="0"/>
              </a:rPr>
              <a:t>Satisfaction rate provided by the employee (1-5 scale).</a:t>
            </a:r>
            <a:endParaRPr lang="en-US" dirty="0">
              <a:latin typeface="Aptos Narrow" panose="020B0004020202020204" pitchFamily="34" charset="0"/>
            </a:endParaRPr>
          </a:p>
        </p:txBody>
      </p:sp>
      <p:sp>
        <p:nvSpPr>
          <p:cNvPr id="9" name="TextBox 8">
            <a:extLst>
              <a:ext uri="{FF2B5EF4-FFF2-40B4-BE49-F238E27FC236}">
                <a16:creationId xmlns:a16="http://schemas.microsoft.com/office/drawing/2014/main" id="{B3B35F48-77C9-01C9-6BBD-CF0BA9AD846E}"/>
              </a:ext>
            </a:extLst>
          </p:cNvPr>
          <p:cNvSpPr txBox="1"/>
          <p:nvPr/>
        </p:nvSpPr>
        <p:spPr>
          <a:xfrm>
            <a:off x="6894785" y="468184"/>
            <a:ext cx="5297215" cy="4503797"/>
          </a:xfrm>
          <a:prstGeom prst="rect">
            <a:avLst/>
          </a:prstGeom>
          <a:noFill/>
        </p:spPr>
        <p:txBody>
          <a:bodyPr wrap="square">
            <a:spAutoFit/>
          </a:bodyPr>
          <a:lstStyle/>
          <a:p>
            <a:pPr rtl="0" fontAlgn="base">
              <a:spcAft>
                <a:spcPts val="1000"/>
              </a:spcAft>
            </a:pPr>
            <a:br>
              <a:rPr lang="en-IN" b="0" dirty="0">
                <a:effectLst/>
                <a:latin typeface="Aptos Narrow" panose="020B0004020202020204" pitchFamily="34" charset="0"/>
              </a:rPr>
            </a:br>
            <a:endParaRPr lang="en-IN" b="0" dirty="0">
              <a:effectLst/>
              <a:latin typeface="Aptos Narrow" panose="020B0004020202020204" pitchFamily="34" charset="0"/>
            </a:endParaRPr>
          </a:p>
          <a:p>
            <a:pPr marL="285750" indent="-285750" rtl="0" fontAlgn="base">
              <a:spcAft>
                <a:spcPts val="1000"/>
              </a:spcAft>
              <a:buFont typeface="Wingdings" pitchFamily="2" charset="2"/>
              <a:buChar char="Ø"/>
            </a:pPr>
            <a:r>
              <a:rPr lang="en-IN" sz="1800" b="1" i="0" u="none" strike="noStrike" dirty="0">
                <a:solidFill>
                  <a:srgbClr val="000000"/>
                </a:solidFill>
                <a:effectLst/>
                <a:latin typeface="Aptos Narrow" panose="020B0004020202020204" pitchFamily="34" charset="0"/>
              </a:rPr>
              <a:t>IT Agents: </a:t>
            </a:r>
            <a:r>
              <a:rPr lang="en-IN" sz="1800" b="0" i="0" u="none" strike="noStrike" dirty="0">
                <a:solidFill>
                  <a:srgbClr val="000000"/>
                </a:solidFill>
                <a:effectLst/>
                <a:latin typeface="Aptos Narrow" panose="020B0004020202020204" pitchFamily="34" charset="0"/>
              </a:rPr>
              <a:t>Contains information about IT agents.</a:t>
            </a: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Agent ID: </a:t>
            </a:r>
            <a:r>
              <a:rPr lang="en-IN" sz="1800" b="0" i="0" u="none" strike="noStrike" dirty="0">
                <a:solidFill>
                  <a:srgbClr val="000000"/>
                </a:solidFill>
                <a:effectLst/>
                <a:latin typeface="Aptos Narrow" panose="020B0004020202020204" pitchFamily="34" charset="0"/>
              </a:rPr>
              <a:t>Unique identifier for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b="1" dirty="0">
              <a:solidFill>
                <a:srgbClr val="000000"/>
              </a:solidFill>
              <a:latin typeface="Aptos Narrow" panose="020B0004020202020204" pitchFamily="34" charset="0"/>
            </a:endParaRP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Full Name: </a:t>
            </a:r>
            <a:r>
              <a:rPr lang="en-IN" sz="1800" b="0" i="0" u="none" strike="noStrike" dirty="0">
                <a:solidFill>
                  <a:srgbClr val="000000"/>
                </a:solidFill>
                <a:effectLst/>
                <a:latin typeface="Aptos Narrow" panose="020B0004020202020204" pitchFamily="34" charset="0"/>
              </a:rPr>
              <a:t>Full name of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Email: </a:t>
            </a:r>
            <a:r>
              <a:rPr lang="en-IN" sz="1800" b="0" i="0" u="none" strike="noStrike" dirty="0">
                <a:solidFill>
                  <a:srgbClr val="000000"/>
                </a:solidFill>
                <a:effectLst/>
                <a:latin typeface="Aptos Narrow" panose="020B0004020202020204" pitchFamily="34" charset="0"/>
              </a:rPr>
              <a:t>Email address of the agent.</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Year of Birth: </a:t>
            </a:r>
            <a:r>
              <a:rPr lang="en-IN" sz="1800" b="0" i="0" u="none" strike="noStrike" dirty="0">
                <a:solidFill>
                  <a:srgbClr val="000000"/>
                </a:solidFill>
                <a:effectLst/>
                <a:latin typeface="Aptos Narrow" panose="020B0004020202020204" pitchFamily="34" charset="0"/>
              </a:rPr>
              <a:t>Year the agent was born.</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Month of Birth: </a:t>
            </a:r>
            <a:r>
              <a:rPr lang="en-IN" sz="1800" b="0" i="0" u="none" strike="noStrike" dirty="0">
                <a:solidFill>
                  <a:srgbClr val="000000"/>
                </a:solidFill>
                <a:effectLst/>
                <a:latin typeface="Aptos Narrow" panose="020B0004020202020204" pitchFamily="34" charset="0"/>
              </a:rPr>
              <a:t>Month the agent was born.</a:t>
            </a: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endParaRPr lang="en-IN" sz="1800" b="1" i="0" u="none" strike="noStrike" dirty="0">
              <a:solidFill>
                <a:srgbClr val="000000"/>
              </a:solidFill>
              <a:effectLst/>
              <a:latin typeface="Aptos Narrow" panose="020B0004020202020204" pitchFamily="34" charset="0"/>
            </a:endParaRPr>
          </a:p>
          <a:p>
            <a:pPr marL="285750" indent="-285750" rtl="0" fontAlgn="base">
              <a:buFont typeface="Arial" panose="020B0604020202020204" pitchFamily="34" charset="0"/>
              <a:buChar char="•"/>
            </a:pPr>
            <a:r>
              <a:rPr lang="en-IN" sz="1800" b="1" i="0" u="none" strike="noStrike" dirty="0">
                <a:solidFill>
                  <a:srgbClr val="000000"/>
                </a:solidFill>
                <a:effectLst/>
                <a:latin typeface="Aptos Narrow" panose="020B0004020202020204" pitchFamily="34" charset="0"/>
              </a:rPr>
              <a:t>Day of Birth: </a:t>
            </a:r>
            <a:r>
              <a:rPr lang="en-IN" sz="1800" b="0" i="0" u="none" strike="noStrike" dirty="0">
                <a:solidFill>
                  <a:srgbClr val="000000"/>
                </a:solidFill>
                <a:effectLst/>
                <a:latin typeface="Aptos Narrow" panose="020B0004020202020204" pitchFamily="34" charset="0"/>
              </a:rPr>
              <a:t>Day the agent was born.</a:t>
            </a:r>
            <a:br>
              <a:rPr lang="en-IN" b="0" dirty="0">
                <a:effectLst/>
                <a:latin typeface="Aptos Narrow" panose="020B0004020202020204" pitchFamily="34" charset="0"/>
              </a:rPr>
            </a:br>
            <a:endParaRPr lang="en-US" dirty="0">
              <a:latin typeface="Aptos Narrow" panose="020B0004020202020204" pitchFamily="34" charset="0"/>
            </a:endParaRPr>
          </a:p>
        </p:txBody>
      </p:sp>
      <p:sp>
        <p:nvSpPr>
          <p:cNvPr id="12" name="TextBox 11">
            <a:extLst>
              <a:ext uri="{FF2B5EF4-FFF2-40B4-BE49-F238E27FC236}">
                <a16:creationId xmlns:a16="http://schemas.microsoft.com/office/drawing/2014/main" id="{D1049A43-9A66-F3ED-0FFD-23A365EFEDFC}"/>
              </a:ext>
            </a:extLst>
          </p:cNvPr>
          <p:cNvSpPr txBox="1"/>
          <p:nvPr/>
        </p:nvSpPr>
        <p:spPr>
          <a:xfrm>
            <a:off x="2836962" y="89908"/>
            <a:ext cx="6312593"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Data Attributes</a:t>
            </a:r>
          </a:p>
        </p:txBody>
      </p:sp>
    </p:spTree>
    <p:extLst>
      <p:ext uri="{BB962C8B-B14F-4D97-AF65-F5344CB8AC3E}">
        <p14:creationId xmlns:p14="http://schemas.microsoft.com/office/powerpoint/2010/main" val="2269073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0C2DE-B6CF-8335-56F8-CE14E42DE0F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865957A-7511-2A47-1FCA-1183FB2A942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28409" y1="31863" x2="28409" y2="40556"/>
                        <a14:foregroundMark x1="28409" y1="40556" x2="49948" y2="27878"/>
                        <a14:foregroundMark x1="49948" y1="27878" x2="31759" y2="24269"/>
                        <a14:foregroundMark x1="31759" y1="24269" x2="39198" y2="19340"/>
                        <a14:foregroundMark x1="39198" y1="19340" x2="57801" y2="17865"/>
                        <a14:foregroundMark x1="57801" y1="17865" x2="63583" y2="18603"/>
                        <a14:foregroundMark x1="34851" y1="53221" x2="34851" y2="53221"/>
                        <a14:foregroundMark x1="38357" y1="53221" x2="27296" y2="44748"/>
                        <a14:foregroundMark x1="27296" y1="44748" x2="27296" y2="44748"/>
                        <a14:foregroundMark x1="31358" y1="30944" x2="27296" y2="38745"/>
                        <a14:foregroundMark x1="27296" y1="38745" x2="28590" y2="47296"/>
                        <a14:foregroundMark x1="28590" y1="47296" x2="35964" y2="51307"/>
                        <a14:foregroundMark x1="35964" y1="51307" x2="41669" y2="52303"/>
                        <a14:foregroundMark x1="46455" y1="31682" x2="38577" y2="28732"/>
                        <a14:foregroundMark x1="38577" y1="28732" x2="36688" y2="30750"/>
                        <a14:foregroundMark x1="63765" y1="20815" x2="57503" y2="14916"/>
                        <a14:foregroundMark x1="57503" y1="14916" x2="39094" y2="14916"/>
                        <a14:foregroundMark x1="39094" y1="14916" x2="35226" y2="21358"/>
                        <a14:foregroundMark x1="34670" y1="19702" x2="31358" y2="20440"/>
                        <a14:foregroundMark x1="57503" y1="14554" x2="54929" y2="14179"/>
                        <a14:foregroundMark x1="24541" y1="79922" x2="30065" y2="81772"/>
                        <a14:foregroundMark x1="29327" y1="84528" x2="37904" y2="85084"/>
                        <a14:foregroundMark x1="37904" y1="85084" x2="55666" y2="81772"/>
                        <a14:foregroundMark x1="55666" y1="81772" x2="58978" y2="81953"/>
                        <a14:foregroundMark x1="51798" y1="82872" x2="61294" y2="83053"/>
                        <a14:foregroundMark x1="61294" y1="83053" x2="66158" y2="78266"/>
                        <a14:backgroundMark x1="85123" y1="68512" x2="94153" y2="81397"/>
                        <a14:backgroundMark x1="92678" y1="74217" x2="96365" y2="64644"/>
                        <a14:backgroundMark x1="96365" y1="64644" x2="96365" y2="64644"/>
                      </a14:backgroundRemoval>
                    </a14:imgEffect>
                  </a14:imgLayer>
                </a14:imgProps>
              </a:ext>
            </a:extLst>
          </a:blip>
          <a:srcRect l="11" t="16" r="14"/>
          <a:stretch>
            <a:fillRect/>
          </a:stretch>
        </p:blipFill>
        <p:spPr>
          <a:xfrm>
            <a:off x="-76804" y="574905"/>
            <a:ext cx="4984530" cy="4593021"/>
          </a:xfrm>
          <a:prstGeom prst="rect">
            <a:avLst/>
          </a:prstGeom>
        </p:spPr>
      </p:pic>
      <p:sp>
        <p:nvSpPr>
          <p:cNvPr id="8" name="TextBox 7">
            <a:extLst>
              <a:ext uri="{FF2B5EF4-FFF2-40B4-BE49-F238E27FC236}">
                <a16:creationId xmlns:a16="http://schemas.microsoft.com/office/drawing/2014/main" id="{3323EEF9-C00A-EEEC-EC39-4B8E9DBCC1EF}"/>
              </a:ext>
            </a:extLst>
          </p:cNvPr>
          <p:cNvSpPr txBox="1"/>
          <p:nvPr/>
        </p:nvSpPr>
        <p:spPr>
          <a:xfrm>
            <a:off x="3463946" y="282518"/>
            <a:ext cx="6312593"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Data Overview</a:t>
            </a:r>
          </a:p>
        </p:txBody>
      </p:sp>
      <p:sp>
        <p:nvSpPr>
          <p:cNvPr id="9" name="TextBox 8">
            <a:extLst>
              <a:ext uri="{FF2B5EF4-FFF2-40B4-BE49-F238E27FC236}">
                <a16:creationId xmlns:a16="http://schemas.microsoft.com/office/drawing/2014/main" id="{B5CDD428-71B4-E589-39D9-1C42B2A68C35}"/>
              </a:ext>
            </a:extLst>
          </p:cNvPr>
          <p:cNvSpPr txBox="1"/>
          <p:nvPr/>
        </p:nvSpPr>
        <p:spPr>
          <a:xfrm>
            <a:off x="5320145" y="1533236"/>
            <a:ext cx="6419273" cy="4801314"/>
          </a:xfrm>
          <a:prstGeom prst="rect">
            <a:avLst/>
          </a:prstGeom>
          <a:noFill/>
        </p:spPr>
        <p:txBody>
          <a:bodyPr wrap="square" rtlCol="0">
            <a:spAutoFit/>
          </a:bodyPr>
          <a:lstStyle/>
          <a:p>
            <a:pPr marL="285750" indent="-285750">
              <a:buFont typeface="Arial" panose="020B0604020202020204" pitchFamily="34" charset="0"/>
              <a:buChar char="•"/>
            </a:pPr>
            <a:r>
              <a:rPr lang="en-US" dirty="0"/>
              <a:t>97,498 tickets in 5 years.</a:t>
            </a:r>
          </a:p>
          <a:p>
            <a:pPr marL="285750" indent="-285750">
              <a:buFont typeface="Arial" panose="020B0604020202020204" pitchFamily="34" charset="0"/>
              <a:buChar char="•"/>
            </a:pPr>
            <a:r>
              <a:rPr lang="en-US" dirty="0"/>
              <a:t>Number of Request Categories: 4</a:t>
            </a:r>
          </a:p>
          <a:p>
            <a:pPr marL="285750" indent="-285750">
              <a:buFont typeface="Arial" panose="020B0604020202020204" pitchFamily="34" charset="0"/>
              <a:buChar char="•"/>
            </a:pPr>
            <a:r>
              <a:rPr lang="en-US" dirty="0"/>
              <a:t>Unique Categories: Login Access, System, Software, Hardware</a:t>
            </a:r>
          </a:p>
          <a:p>
            <a:pPr marL="285750" indent="-285750">
              <a:buFont typeface="Arial" panose="020B0604020202020204" pitchFamily="34" charset="0"/>
              <a:buChar char="•"/>
            </a:pPr>
            <a:r>
              <a:rPr lang="en-US" dirty="0"/>
              <a:t>Number of Priorities: 4</a:t>
            </a:r>
          </a:p>
          <a:p>
            <a:pPr marL="285750" indent="-285750">
              <a:buFont typeface="Arial" panose="020B0604020202020204" pitchFamily="34" charset="0"/>
              <a:buChar char="•"/>
            </a:pPr>
            <a:r>
              <a:rPr lang="en-US" dirty="0"/>
              <a:t>Unique Priorities: Unassigned, High, Mid, Low.</a:t>
            </a:r>
          </a:p>
          <a:p>
            <a:pPr marL="285750" indent="-285750">
              <a:buFont typeface="Arial" panose="020B0604020202020204" pitchFamily="34" charset="0"/>
              <a:buChar char="•"/>
            </a:pPr>
            <a:r>
              <a:rPr lang="en-US" dirty="0"/>
              <a:t>Number of Agents: 50 agents</a:t>
            </a:r>
          </a:p>
          <a:p>
            <a:pPr marL="285750" indent="-285750">
              <a:buFont typeface="Arial" panose="020B0604020202020204" pitchFamily="34" charset="0"/>
              <a:buChar char="•"/>
            </a:pPr>
            <a:r>
              <a:rPr lang="en-US" dirty="0"/>
              <a:t>Number of Severities: 5</a:t>
            </a:r>
          </a:p>
          <a:p>
            <a:pPr marL="285750" indent="-285750">
              <a:buFont typeface="Arial" panose="020B0604020202020204" pitchFamily="34" charset="0"/>
              <a:buChar char="•"/>
            </a:pPr>
            <a:r>
              <a:rPr lang="en-US" dirty="0"/>
              <a:t>Unique Severities: Unclassified, Normal, Urgent, Major, Minor.</a:t>
            </a:r>
          </a:p>
          <a:p>
            <a:pPr marL="285750" indent="-285750">
              <a:buFont typeface="Arial" panose="020B0604020202020204" pitchFamily="34" charset="0"/>
              <a:buChar char="•"/>
            </a:pPr>
            <a:endParaRPr lang="en-US" dirty="0"/>
          </a:p>
          <a:p>
            <a:r>
              <a:rPr lang="en-US" b="1" dirty="0">
                <a:latin typeface="Aptos Narrow" panose="020B0004020202020204" pitchFamily="34" charset="0"/>
              </a:rPr>
              <a:t>Data Cleaning and Preprocessing: </a:t>
            </a:r>
          </a:p>
          <a:p>
            <a:endParaRPr lang="en-US" b="1" dirty="0">
              <a:latin typeface="Aptos Narrow" panose="020B0004020202020204" pitchFamily="34" charset="0"/>
            </a:endParaRPr>
          </a:p>
          <a:p>
            <a:pPr marL="285750" indent="-285750">
              <a:buFont typeface="Arial" panose="020B0604020202020204" pitchFamily="34" charset="0"/>
              <a:buChar char="•"/>
            </a:pPr>
            <a:r>
              <a:rPr lang="en-US" dirty="0">
                <a:latin typeface="Aptos Narrow" panose="020B0004020202020204" pitchFamily="34" charset="0"/>
              </a:rPr>
              <a:t>Fixed spelling mistakes in Priority and Severity.</a:t>
            </a:r>
          </a:p>
          <a:p>
            <a:pPr marL="285750" indent="-285750">
              <a:buFont typeface="Arial" panose="020B0604020202020204" pitchFamily="34" charset="0"/>
              <a:buChar char="•"/>
            </a:pPr>
            <a:r>
              <a:rPr lang="en-US" dirty="0">
                <a:latin typeface="Aptos Narrow" panose="020B0004020202020204" pitchFamily="34" charset="0"/>
              </a:rPr>
              <a:t>Extracted the category from Priority and Severity.</a:t>
            </a:r>
          </a:p>
          <a:p>
            <a:pPr marL="285750" indent="-285750">
              <a:buFont typeface="Arial" panose="020B0604020202020204" pitchFamily="34" charset="0"/>
              <a:buChar char="•"/>
            </a:pPr>
            <a:r>
              <a:rPr lang="en-US" dirty="0">
                <a:latin typeface="Aptos Narrow" panose="020B0004020202020204" pitchFamily="34" charset="0"/>
              </a:rPr>
              <a:t>Added agent details with tickets</a:t>
            </a:r>
          </a:p>
          <a:p>
            <a:pPr marL="285750" indent="-285750">
              <a:buFont typeface="Arial" panose="020B0604020202020204" pitchFamily="34" charset="0"/>
              <a:buChar char="•"/>
            </a:pPr>
            <a:r>
              <a:rPr lang="en-US" dirty="0">
                <a:latin typeface="Aptos Narrow" panose="020B0004020202020204" pitchFamily="34" charset="0"/>
              </a:rPr>
              <a:t>Create a feature to group agents based on there Age.</a:t>
            </a:r>
          </a:p>
          <a:p>
            <a:pPr marL="285750" indent="-285750">
              <a:buFont typeface="Arial" panose="020B0604020202020204" pitchFamily="34" charset="0"/>
              <a:buChar char="•"/>
            </a:pPr>
            <a:r>
              <a:rPr lang="en-US" dirty="0">
                <a:latin typeface="Aptos Narrow" panose="020B0004020202020204" pitchFamily="34" charset="0"/>
              </a:rPr>
              <a:t>Extracted the age of each agent.</a:t>
            </a:r>
          </a:p>
          <a:p>
            <a:pPr marL="285750" indent="-285750">
              <a:buFont typeface="Arial" panose="020B0604020202020204" pitchFamily="34" charset="0"/>
              <a:buChar char="•"/>
            </a:pPr>
            <a:r>
              <a:rPr lang="en-US" dirty="0">
                <a:latin typeface="Aptos Narrow" panose="020B0004020202020204" pitchFamily="34" charset="0"/>
              </a:rPr>
              <a:t>Extracted domain name from agent email address.</a:t>
            </a:r>
          </a:p>
        </p:txBody>
      </p:sp>
    </p:spTree>
    <p:extLst>
      <p:ext uri="{BB962C8B-B14F-4D97-AF65-F5344CB8AC3E}">
        <p14:creationId xmlns:p14="http://schemas.microsoft.com/office/powerpoint/2010/main" val="3027523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0F02A75-BF30-8740-01E9-21818EF9EE4A}"/>
              </a:ext>
            </a:extLst>
          </p:cNvPr>
          <p:cNvSpPr txBox="1"/>
          <p:nvPr/>
        </p:nvSpPr>
        <p:spPr>
          <a:xfrm>
            <a:off x="4784435" y="228122"/>
            <a:ext cx="4853558" cy="1077218"/>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Data Analytical approach and tools</a:t>
            </a:r>
          </a:p>
        </p:txBody>
      </p:sp>
      <p:pic>
        <p:nvPicPr>
          <p:cNvPr id="11" name="Picture 10">
            <a:extLst>
              <a:ext uri="{FF2B5EF4-FFF2-40B4-BE49-F238E27FC236}">
                <a16:creationId xmlns:a16="http://schemas.microsoft.com/office/drawing/2014/main" id="{A25A7BB0-73F5-4D35-627C-8C47E60B8441}"/>
              </a:ext>
            </a:extLst>
          </p:cNvPr>
          <p:cNvPicPr>
            <a:picLocks noChangeAspect="1"/>
          </p:cNvPicPr>
          <p:nvPr/>
        </p:nvPicPr>
        <p:blipFill>
          <a:blip r:embed="rId2"/>
          <a:stretch>
            <a:fillRect/>
          </a:stretch>
        </p:blipFill>
        <p:spPr>
          <a:xfrm>
            <a:off x="70907" y="1422464"/>
            <a:ext cx="5054504" cy="3369669"/>
          </a:xfrm>
          <a:prstGeom prst="rect">
            <a:avLst/>
          </a:prstGeom>
        </p:spPr>
      </p:pic>
      <p:sp>
        <p:nvSpPr>
          <p:cNvPr id="12" name="TextBox 11">
            <a:extLst>
              <a:ext uri="{FF2B5EF4-FFF2-40B4-BE49-F238E27FC236}">
                <a16:creationId xmlns:a16="http://schemas.microsoft.com/office/drawing/2014/main" id="{B3A6B034-ACB5-4F78-BBEC-0D90555ABC07}"/>
              </a:ext>
            </a:extLst>
          </p:cNvPr>
          <p:cNvSpPr txBox="1"/>
          <p:nvPr/>
        </p:nvSpPr>
        <p:spPr>
          <a:xfrm>
            <a:off x="5572165" y="1593744"/>
            <a:ext cx="6123709" cy="4801314"/>
          </a:xfrm>
          <a:prstGeom prst="rect">
            <a:avLst/>
          </a:prstGeom>
          <a:noFill/>
        </p:spPr>
        <p:txBody>
          <a:bodyPr wrap="square" rtlCol="0">
            <a:spAutoFit/>
          </a:bodyPr>
          <a:lstStyle/>
          <a:p>
            <a:pPr marL="285750" indent="-285750">
              <a:buFont typeface="Arial" panose="020B0604020202020204" pitchFamily="34" charset="0"/>
              <a:buChar char="•"/>
            </a:pPr>
            <a:r>
              <a:rPr lang="en-US" dirty="0"/>
              <a:t>Data Cleaning: Utilized functions TRIM,CLEAN,LEN,FIND,LEFT,RIGHT,ROUND.</a:t>
            </a:r>
          </a:p>
          <a:p>
            <a:pPr marL="285750" indent="-285750">
              <a:buFont typeface="Arial" panose="020B0604020202020204" pitchFamily="34" charset="0"/>
              <a:buChar char="•"/>
            </a:pPr>
            <a:r>
              <a:rPr lang="en-US" dirty="0"/>
              <a:t>Data Enrichment: Enhanced data set with additional variables using VLOOKUP to cross- reference external data source.</a:t>
            </a:r>
          </a:p>
          <a:p>
            <a:pPr marL="285750" indent="-285750">
              <a:buFont typeface="Arial" panose="020B0604020202020204" pitchFamily="34" charset="0"/>
              <a:buChar char="•"/>
            </a:pPr>
            <a:r>
              <a:rPr lang="en-US" dirty="0"/>
              <a:t>Trend analysis: Conducted time series analysis using PIVOT TABLE and Charts to find trend in tickets and its behavior.</a:t>
            </a:r>
          </a:p>
          <a:p>
            <a:pPr marL="285750" indent="-285750">
              <a:buFont typeface="Arial" panose="020B0604020202020204" pitchFamily="34" charset="0"/>
              <a:buChar char="•"/>
            </a:pPr>
            <a:r>
              <a:rPr lang="en-US" dirty="0"/>
              <a:t>Utilized DATE,DATEDIF to create feature columns in dataset.</a:t>
            </a:r>
          </a:p>
          <a:p>
            <a:pPr marL="285750" indent="-285750">
              <a:buFont typeface="Arial" panose="020B0604020202020204" pitchFamily="34" charset="0"/>
              <a:buChar char="•"/>
            </a:pPr>
            <a:r>
              <a:rPr lang="en-US" dirty="0"/>
              <a:t>Visualization: Created dynamic charts and dashboard for data representation, enabling interactive data exploration.</a:t>
            </a:r>
          </a:p>
          <a:p>
            <a:pPr marL="285750" indent="-285750">
              <a:buFont typeface="Arial" panose="020B0604020202020204" pitchFamily="34" charset="0"/>
              <a:buChar char="•"/>
            </a:pPr>
            <a:r>
              <a:rPr lang="en-US" dirty="0"/>
              <a:t>Filtering : Utilized Pivot table and Slicers feature to visualize and chronological filtering of data. </a:t>
            </a:r>
          </a:p>
          <a:p>
            <a:pPr marL="285750" indent="-285750">
              <a:buFont typeface="Arial" panose="020B0604020202020204" pitchFamily="34" charset="0"/>
              <a:buChar char="•"/>
            </a:pPr>
            <a:r>
              <a:rPr lang="en-US" dirty="0"/>
              <a:t>Conducted Cost Benefit Analysis for investment decision making.</a:t>
            </a:r>
          </a:p>
          <a:p>
            <a:pPr marL="285750" indent="-285750">
              <a:buFont typeface="Arial" panose="020B0604020202020204" pitchFamily="34" charset="0"/>
              <a:buChar char="•"/>
            </a:pPr>
            <a:r>
              <a:rPr lang="en-US" dirty="0"/>
              <a:t>Trend Analysis: Conducted time series analysis using line Chart.</a:t>
            </a:r>
          </a:p>
          <a:p>
            <a:r>
              <a:rPr lang="en-US" dirty="0"/>
              <a:t> </a:t>
            </a:r>
          </a:p>
        </p:txBody>
      </p:sp>
    </p:spTree>
    <p:extLst>
      <p:ext uri="{BB962C8B-B14F-4D97-AF65-F5344CB8AC3E}">
        <p14:creationId xmlns:p14="http://schemas.microsoft.com/office/powerpoint/2010/main" val="261721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5E26CB0-EDA9-6045-7533-1525519AB44D}"/>
              </a:ext>
            </a:extLst>
          </p:cNvPr>
          <p:cNvSpPr txBox="1"/>
          <p:nvPr/>
        </p:nvSpPr>
        <p:spPr>
          <a:xfrm>
            <a:off x="1353238" y="4823370"/>
            <a:ext cx="10571374" cy="1200329"/>
          </a:xfrm>
          <a:prstGeom prst="rect">
            <a:avLst/>
          </a:prstGeom>
          <a:noFill/>
        </p:spPr>
        <p:txBody>
          <a:bodyPr wrap="square">
            <a:spAutoFit/>
          </a:bodyPr>
          <a:lstStyle/>
          <a:p>
            <a:pPr marL="285750" indent="-285750">
              <a:buFont typeface="Arial" panose="020B0604020202020204" pitchFamily="34" charset="0"/>
              <a:buChar char="•"/>
            </a:pPr>
            <a:r>
              <a:rPr lang="en-US" dirty="0"/>
              <a:t>Ticket volume increased steadily from 2016 to 2020, more than doubling overall.</a:t>
            </a:r>
          </a:p>
          <a:p>
            <a:pPr marL="285750" indent="-285750">
              <a:buFont typeface="Arial" panose="020B0604020202020204" pitchFamily="34" charset="0"/>
              <a:buChar char="•"/>
            </a:pPr>
            <a:r>
              <a:rPr lang="en-US" dirty="0"/>
              <a:t>2020 recorded the highest volume, indicating peak demand and workload. </a:t>
            </a:r>
          </a:p>
          <a:p>
            <a:pPr marL="285750" indent="-285750">
              <a:buFont typeface="Arial" panose="020B0604020202020204" pitchFamily="34" charset="0"/>
              <a:buChar char="•"/>
            </a:pPr>
            <a:r>
              <a:rPr lang="en-US" dirty="0"/>
              <a:t>Year-on-year growth accelerated after 2018, showing rising system usage. </a:t>
            </a:r>
          </a:p>
          <a:p>
            <a:pPr marL="285750" indent="-285750">
              <a:buFont typeface="Arial" panose="020B0604020202020204" pitchFamily="34" charset="0"/>
              <a:buChar char="•"/>
            </a:pPr>
            <a:r>
              <a:rPr lang="en-US" dirty="0"/>
              <a:t>The trend reflects consistent escalation in IT support demand over time</a:t>
            </a:r>
          </a:p>
        </p:txBody>
      </p:sp>
      <p:sp>
        <p:nvSpPr>
          <p:cNvPr id="7" name="TextBox 6">
            <a:extLst>
              <a:ext uri="{FF2B5EF4-FFF2-40B4-BE49-F238E27FC236}">
                <a16:creationId xmlns:a16="http://schemas.microsoft.com/office/drawing/2014/main" id="{D00F16B0-1C77-C7EF-E614-0CA99C5ABC6A}"/>
              </a:ext>
            </a:extLst>
          </p:cNvPr>
          <p:cNvSpPr txBox="1"/>
          <p:nvPr/>
        </p:nvSpPr>
        <p:spPr>
          <a:xfrm>
            <a:off x="3833099" y="295692"/>
            <a:ext cx="5011393" cy="1015663"/>
          </a:xfrm>
          <a:prstGeom prst="rect">
            <a:avLst/>
          </a:prstGeom>
          <a:noFill/>
        </p:spPr>
        <p:txBody>
          <a:bodyPr wrap="square" rtlCol="0">
            <a:spAutoFit/>
          </a:bodyPr>
          <a:lstStyle/>
          <a:p>
            <a:pPr algn="ctr"/>
            <a:r>
              <a:rPr lang="en-US" sz="2800" b="1" dirty="0"/>
              <a:t>Tickets Volume Over Time</a:t>
            </a:r>
          </a:p>
          <a:p>
            <a:pPr algn="ctr"/>
            <a:endParaRPr lang="en-US" sz="3200" b="1" dirty="0">
              <a:latin typeface="Aptos Narrow" panose="020B0004020202020204" pitchFamily="34" charset="0"/>
              <a:cs typeface="APPLE CHANCERY" panose="03020702040506060504" pitchFamily="66" charset="-79"/>
            </a:endParaRPr>
          </a:p>
        </p:txBody>
      </p:sp>
      <p:graphicFrame>
        <p:nvGraphicFramePr>
          <p:cNvPr id="4" name="Chart 3">
            <a:extLst>
              <a:ext uri="{FF2B5EF4-FFF2-40B4-BE49-F238E27FC236}">
                <a16:creationId xmlns:a16="http://schemas.microsoft.com/office/drawing/2014/main" id="{51A605D9-0D3F-5E41-0EE4-CF6D8ED27CEA}"/>
              </a:ext>
            </a:extLst>
          </p:cNvPr>
          <p:cNvGraphicFramePr/>
          <p:nvPr>
            <p:extLst>
              <p:ext uri="{D42A27DB-BD31-4B8C-83A1-F6EECF244321}">
                <p14:modId xmlns:p14="http://schemas.microsoft.com/office/powerpoint/2010/main" val="1086461726"/>
              </p:ext>
            </p:extLst>
          </p:nvPr>
        </p:nvGraphicFramePr>
        <p:xfrm>
          <a:off x="1695450" y="834301"/>
          <a:ext cx="8801100" cy="36900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7006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76E681-E5F6-9954-30E7-46F82DA37FEE}"/>
              </a:ext>
            </a:extLst>
          </p:cNvPr>
          <p:cNvSpPr txBox="1"/>
          <p:nvPr/>
        </p:nvSpPr>
        <p:spPr>
          <a:xfrm>
            <a:off x="1704975" y="254873"/>
            <a:ext cx="8782050" cy="523220"/>
          </a:xfrm>
          <a:prstGeom prst="rect">
            <a:avLst/>
          </a:prstGeom>
          <a:noFill/>
        </p:spPr>
        <p:txBody>
          <a:bodyPr wrap="square" rtlCol="0">
            <a:spAutoFit/>
          </a:bodyPr>
          <a:lstStyle/>
          <a:p>
            <a:pPr algn="ctr">
              <a:defRPr sz="1400" b="0" i="0" u="none" strike="noStrike" kern="1200" spc="0" baseline="0">
                <a:solidFill>
                  <a:prstClr val="black">
                    <a:lumMod val="65000"/>
                    <a:lumOff val="35000"/>
                  </a:prstClr>
                </a:solidFill>
                <a:latin typeface="+mn-lt"/>
                <a:ea typeface="+mn-ea"/>
                <a:cs typeface="+mn-cs"/>
              </a:defRPr>
            </a:pPr>
            <a:r>
              <a:rPr lang="en-US" sz="2800" b="1" dirty="0"/>
              <a:t>Satisfaction Rate and Resolution Time by Year</a:t>
            </a:r>
          </a:p>
        </p:txBody>
      </p:sp>
      <p:sp>
        <p:nvSpPr>
          <p:cNvPr id="12" name="TextBox 11">
            <a:extLst>
              <a:ext uri="{FF2B5EF4-FFF2-40B4-BE49-F238E27FC236}">
                <a16:creationId xmlns:a16="http://schemas.microsoft.com/office/drawing/2014/main" id="{7E996624-E570-10C1-C376-3922209291E6}"/>
              </a:ext>
            </a:extLst>
          </p:cNvPr>
          <p:cNvSpPr txBox="1"/>
          <p:nvPr/>
        </p:nvSpPr>
        <p:spPr>
          <a:xfrm>
            <a:off x="1228725" y="4333875"/>
            <a:ext cx="10067924" cy="1754326"/>
          </a:xfrm>
          <a:prstGeom prst="rect">
            <a:avLst/>
          </a:prstGeom>
          <a:noFill/>
        </p:spPr>
        <p:txBody>
          <a:bodyPr wrap="square" rtlCol="0">
            <a:spAutoFit/>
          </a:bodyPr>
          <a:lstStyle/>
          <a:p>
            <a:pPr marL="285750" indent="-285750">
              <a:buFont typeface="Arial" panose="020B0604020202020204" pitchFamily="34" charset="0"/>
              <a:buChar char="•"/>
            </a:pPr>
            <a:r>
              <a:rPr lang="en-US" dirty="0"/>
              <a:t>Customer satisfaction has consistently improved year-over-year from 2016 to 2020.</a:t>
            </a:r>
          </a:p>
          <a:p>
            <a:pPr marL="285750" indent="-285750">
              <a:buFont typeface="Arial" panose="020B0604020202020204" pitchFamily="34" charset="0"/>
              <a:buChar char="•"/>
            </a:pPr>
            <a:r>
              <a:rPr lang="en-US" dirty="0"/>
              <a:t>The highest satisfaction score was achieved in 2020 (4.16), reflecting improved service delivery.</a:t>
            </a:r>
          </a:p>
          <a:p>
            <a:pPr marL="285750" indent="-285750">
              <a:buFont typeface="Arial" panose="020B0604020202020204" pitchFamily="34" charset="0"/>
              <a:buChar char="•"/>
            </a:pPr>
            <a:r>
              <a:rPr lang="en-US" dirty="0"/>
              <a:t>Resolution time remained stable across all years, averaging around 4.5 days.</a:t>
            </a:r>
          </a:p>
          <a:p>
            <a:pPr marL="285750" indent="-285750">
              <a:buFont typeface="Arial" panose="020B0604020202020204" pitchFamily="34" charset="0"/>
              <a:buChar char="•"/>
            </a:pPr>
            <a:r>
              <a:rPr lang="en-US" dirty="0"/>
              <a:t>Improvement in satisfaction despite stable resolution time indicates better quality of support and communication.</a:t>
            </a:r>
          </a:p>
          <a:p>
            <a:pPr marL="285750" indent="-285750">
              <a:buFont typeface="Arial" panose="020B0604020202020204" pitchFamily="34" charset="0"/>
              <a:buChar char="•"/>
            </a:pPr>
            <a:r>
              <a:rPr lang="en-US" dirty="0"/>
              <a:t>Overall performance reflects a positive customer experience trend over time.</a:t>
            </a:r>
          </a:p>
        </p:txBody>
      </p:sp>
      <p:graphicFrame>
        <p:nvGraphicFramePr>
          <p:cNvPr id="2" name="Chart 1">
            <a:extLst>
              <a:ext uri="{FF2B5EF4-FFF2-40B4-BE49-F238E27FC236}">
                <a16:creationId xmlns:a16="http://schemas.microsoft.com/office/drawing/2014/main" id="{A216E072-A01F-830E-24FE-07BB98FC7DB3}"/>
              </a:ext>
            </a:extLst>
          </p:cNvPr>
          <p:cNvGraphicFramePr>
            <a:graphicFrameLocks/>
          </p:cNvGraphicFramePr>
          <p:nvPr>
            <p:extLst>
              <p:ext uri="{D42A27DB-BD31-4B8C-83A1-F6EECF244321}">
                <p14:modId xmlns:p14="http://schemas.microsoft.com/office/powerpoint/2010/main" val="996766182"/>
              </p:ext>
            </p:extLst>
          </p:nvPr>
        </p:nvGraphicFramePr>
        <p:xfrm>
          <a:off x="1228725" y="1062762"/>
          <a:ext cx="9401175" cy="29227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45075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F570FC-76E3-DA17-F409-BCE00DCBF99B}"/>
              </a:ext>
            </a:extLst>
          </p:cNvPr>
          <p:cNvSpPr txBox="1"/>
          <p:nvPr/>
        </p:nvSpPr>
        <p:spPr>
          <a:xfrm>
            <a:off x="1151467" y="273538"/>
            <a:ext cx="10442575" cy="523220"/>
          </a:xfrm>
          <a:prstGeom prst="rect">
            <a:avLst/>
          </a:prstGeom>
          <a:noFill/>
        </p:spPr>
        <p:txBody>
          <a:bodyPr wrap="square" rtlCol="0">
            <a:spAutoFit/>
          </a:bodyPr>
          <a:lstStyle/>
          <a:p>
            <a:pPr algn="ctr"/>
            <a:r>
              <a:rPr lang="en-US" sz="2800" b="1" dirty="0"/>
              <a:t>Age Group by Satisfaction Rate Based on  Request Category</a:t>
            </a:r>
            <a:endParaRPr lang="en-US" sz="2800" b="1" dirty="0">
              <a:latin typeface="Aptos Narrow" panose="020B0004020202020204" pitchFamily="34" charset="0"/>
              <a:cs typeface="APPLE CHANCERY" panose="03020702040506060504" pitchFamily="66" charset="-79"/>
            </a:endParaRPr>
          </a:p>
        </p:txBody>
      </p:sp>
      <p:sp>
        <p:nvSpPr>
          <p:cNvPr id="7" name="TextBox 6">
            <a:extLst>
              <a:ext uri="{FF2B5EF4-FFF2-40B4-BE49-F238E27FC236}">
                <a16:creationId xmlns:a16="http://schemas.microsoft.com/office/drawing/2014/main" id="{041C19AC-2BD2-7A16-044A-9D19BDA2E3FE}"/>
              </a:ext>
            </a:extLst>
          </p:cNvPr>
          <p:cNvSpPr txBox="1"/>
          <p:nvPr/>
        </p:nvSpPr>
        <p:spPr>
          <a:xfrm>
            <a:off x="520699" y="4281011"/>
            <a:ext cx="11150600" cy="2303451"/>
          </a:xfrm>
          <a:prstGeom prst="rect">
            <a:avLst/>
          </a:prstGeom>
          <a:noFill/>
        </p:spPr>
        <p:txBody>
          <a:bodyPr wrap="square">
            <a:spAutoFit/>
          </a:bodyPr>
          <a:lstStyle/>
          <a:p>
            <a:pPr marL="742950" lvl="1" indent="-285750">
              <a:lnSpc>
                <a:spcPct val="115000"/>
              </a:lnSpc>
              <a:buFont typeface="Arial" panose="020B0604020202020204" pitchFamily="34" charset="0"/>
              <a:buChar char="•"/>
            </a:pPr>
            <a:r>
              <a:rPr lang="en-GB" dirty="0">
                <a:effectLst/>
                <a:ea typeface="Arial" panose="020B0604020202020204" pitchFamily="34" charset="0"/>
                <a:cs typeface="Times New Roman" panose="02020603050405020304" pitchFamily="18" charset="0"/>
              </a:rPr>
              <a:t>Customer satisfaction is consistently high, around 4.00 to 4.20 for tickets handled by all IT agent age groups. This is a strong positive signal. </a:t>
            </a:r>
          </a:p>
          <a:p>
            <a:pPr marL="742950" lvl="1" indent="-285750">
              <a:lnSpc>
                <a:spcPct val="115000"/>
              </a:lnSpc>
              <a:buFont typeface="Arial" panose="020B0604020202020204" pitchFamily="34" charset="0"/>
              <a:buChar char="•"/>
            </a:pPr>
            <a:r>
              <a:rPr lang="en-GB" dirty="0">
                <a:effectLst/>
                <a:ea typeface="Arial" panose="020B0604020202020204" pitchFamily="34" charset="0"/>
                <a:cs typeface="Times New Roman" panose="02020603050405020304" pitchFamily="18" charset="0"/>
              </a:rPr>
              <a:t>The 28-32 age group of agents achieves the highest average satisfaction rate, 4.21. </a:t>
            </a:r>
          </a:p>
          <a:p>
            <a:pPr marL="742950" lvl="1" indent="-285750">
              <a:lnSpc>
                <a:spcPct val="115000"/>
              </a:lnSpc>
              <a:buFont typeface="Arial" panose="020B0604020202020204" pitchFamily="34" charset="0"/>
              <a:buChar char="•"/>
            </a:pPr>
            <a:r>
              <a:rPr lang="en-GB" dirty="0">
                <a:effectLst/>
                <a:ea typeface="Arial" panose="020B0604020202020204" pitchFamily="34" charset="0"/>
                <a:cs typeface="Times New Roman" panose="02020603050405020304" pitchFamily="18" charset="0"/>
              </a:rPr>
              <a:t>The 33-37 and 43-47 age groups of agents show slightly lower overall satisfaction scores compared to others. </a:t>
            </a:r>
          </a:p>
          <a:p>
            <a:pPr marL="742950" lvl="1" indent="-285750">
              <a:lnSpc>
                <a:spcPct val="115000"/>
              </a:lnSpc>
              <a:buFont typeface="Arial" panose="020B0604020202020204" pitchFamily="34" charset="0"/>
              <a:buChar char="•"/>
            </a:pPr>
            <a:r>
              <a:rPr lang="en-GB" dirty="0">
                <a:effectLst/>
                <a:ea typeface="Arial" panose="020B0604020202020204" pitchFamily="34" charset="0"/>
                <a:cs typeface="Times New Roman" panose="02020603050405020304" pitchFamily="18" charset="0"/>
              </a:rPr>
              <a:t>The 33-37 age group of agents, who have longer System and Software resolution times, also have a slightly lower satisfaction rate. This suggests that longer wait times, even if eventually resolved, can subtly impact satisfaction.</a:t>
            </a:r>
          </a:p>
        </p:txBody>
      </p:sp>
      <p:graphicFrame>
        <p:nvGraphicFramePr>
          <p:cNvPr id="3" name="Chart 2">
            <a:extLst>
              <a:ext uri="{FF2B5EF4-FFF2-40B4-BE49-F238E27FC236}">
                <a16:creationId xmlns:a16="http://schemas.microsoft.com/office/drawing/2014/main" id="{0663696D-0E1F-7FE6-AF12-329657911BE4}"/>
              </a:ext>
            </a:extLst>
          </p:cNvPr>
          <p:cNvGraphicFramePr>
            <a:graphicFrameLocks/>
          </p:cNvGraphicFramePr>
          <p:nvPr>
            <p:extLst>
              <p:ext uri="{D42A27DB-BD31-4B8C-83A1-F6EECF244321}">
                <p14:modId xmlns:p14="http://schemas.microsoft.com/office/powerpoint/2010/main" val="4275420481"/>
              </p:ext>
            </p:extLst>
          </p:nvPr>
        </p:nvGraphicFramePr>
        <p:xfrm>
          <a:off x="1143000" y="834858"/>
          <a:ext cx="9905999" cy="31919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41151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7197D3-A131-0C99-4865-7BCB8CADFDA3}"/>
              </a:ext>
            </a:extLst>
          </p:cNvPr>
          <p:cNvSpPr txBox="1"/>
          <p:nvPr/>
        </p:nvSpPr>
        <p:spPr>
          <a:xfrm>
            <a:off x="6169981" y="1859339"/>
            <a:ext cx="5708341" cy="3139321"/>
          </a:xfrm>
          <a:prstGeom prst="rect">
            <a:avLst/>
          </a:prstGeom>
          <a:noFill/>
        </p:spPr>
        <p:txBody>
          <a:bodyPr wrap="square" rtlCol="0">
            <a:spAutoFit/>
          </a:bodyPr>
          <a:lstStyle/>
          <a:p>
            <a:pPr marL="285750" indent="-285750">
              <a:buFont typeface="Arial" panose="020B0604020202020204" pitchFamily="34" charset="0"/>
              <a:buChar char="•"/>
            </a:pPr>
            <a:r>
              <a:rPr lang="en-IN" dirty="0"/>
              <a:t>Hardware issues take the longest to resolve, 7.63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System issues average 6.62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Software requests average 5.24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Login Access requests are resolved very quickly (0.31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Hardware resolution is a systemic issue affecting all agent age groups.</a:t>
            </a:r>
          </a:p>
        </p:txBody>
      </p:sp>
      <p:sp>
        <p:nvSpPr>
          <p:cNvPr id="6" name="TextBox 5">
            <a:extLst>
              <a:ext uri="{FF2B5EF4-FFF2-40B4-BE49-F238E27FC236}">
                <a16:creationId xmlns:a16="http://schemas.microsoft.com/office/drawing/2014/main" id="{8BC78944-26E3-8AA8-14FA-EE803174B6C5}"/>
              </a:ext>
            </a:extLst>
          </p:cNvPr>
          <p:cNvSpPr txBox="1"/>
          <p:nvPr/>
        </p:nvSpPr>
        <p:spPr>
          <a:xfrm>
            <a:off x="1603714" y="503873"/>
            <a:ext cx="10485083" cy="1015663"/>
          </a:xfrm>
          <a:prstGeom prst="rect">
            <a:avLst/>
          </a:prstGeom>
          <a:noFill/>
        </p:spPr>
        <p:txBody>
          <a:bodyPr wrap="square" rtlCol="0">
            <a:spAutoFit/>
          </a:bodyPr>
          <a:lstStyle/>
          <a:p>
            <a:pPr algn="ctr"/>
            <a:r>
              <a:rPr lang="en-US" sz="2800" b="1" dirty="0"/>
              <a:t>Average Resolution Time by Request Category</a:t>
            </a:r>
          </a:p>
          <a:p>
            <a:pPr algn="ctr"/>
            <a:endParaRPr lang="en-US" sz="3200" b="1" dirty="0">
              <a:latin typeface="Aptos Narrow" panose="020B0004020202020204" pitchFamily="34" charset="0"/>
              <a:cs typeface="APPLE CHANCERY" panose="03020702040506060504" pitchFamily="66" charset="-79"/>
            </a:endParaRPr>
          </a:p>
        </p:txBody>
      </p:sp>
      <p:graphicFrame>
        <p:nvGraphicFramePr>
          <p:cNvPr id="17" name="Chart 16">
            <a:extLst>
              <a:ext uri="{FF2B5EF4-FFF2-40B4-BE49-F238E27FC236}">
                <a16:creationId xmlns:a16="http://schemas.microsoft.com/office/drawing/2014/main" id="{28CE750B-9E81-45EA-8B1B-E50546CEFFBE}"/>
              </a:ext>
            </a:extLst>
          </p:cNvPr>
          <p:cNvGraphicFramePr>
            <a:graphicFrameLocks/>
          </p:cNvGraphicFramePr>
          <p:nvPr>
            <p:extLst>
              <p:ext uri="{D42A27DB-BD31-4B8C-83A1-F6EECF244321}">
                <p14:modId xmlns:p14="http://schemas.microsoft.com/office/powerpoint/2010/main" val="27486735"/>
              </p:ext>
            </p:extLst>
          </p:nvPr>
        </p:nvGraphicFramePr>
        <p:xfrm>
          <a:off x="362701" y="3927151"/>
          <a:ext cx="1893491" cy="15954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DD63C759-9053-4C50-A1AE-29A4AEBAFE7E}"/>
              </a:ext>
            </a:extLst>
          </p:cNvPr>
          <p:cNvGraphicFramePr>
            <a:graphicFrameLocks/>
          </p:cNvGraphicFramePr>
          <p:nvPr>
            <p:extLst>
              <p:ext uri="{D42A27DB-BD31-4B8C-83A1-F6EECF244321}">
                <p14:modId xmlns:p14="http://schemas.microsoft.com/office/powerpoint/2010/main" val="1299640844"/>
              </p:ext>
            </p:extLst>
          </p:nvPr>
        </p:nvGraphicFramePr>
        <p:xfrm>
          <a:off x="1471803" y="3792570"/>
          <a:ext cx="1893491" cy="17300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48A4EF9E-461F-4B20-B262-C8D26A2D702A}"/>
              </a:ext>
            </a:extLst>
          </p:cNvPr>
          <p:cNvGraphicFramePr>
            <a:graphicFrameLocks/>
          </p:cNvGraphicFramePr>
          <p:nvPr>
            <p:extLst>
              <p:ext uri="{D42A27DB-BD31-4B8C-83A1-F6EECF244321}">
                <p14:modId xmlns:p14="http://schemas.microsoft.com/office/powerpoint/2010/main" val="849328224"/>
              </p:ext>
            </p:extLst>
          </p:nvPr>
        </p:nvGraphicFramePr>
        <p:xfrm>
          <a:off x="2549825" y="3680917"/>
          <a:ext cx="2055887" cy="208793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Chart 19">
            <a:extLst>
              <a:ext uri="{FF2B5EF4-FFF2-40B4-BE49-F238E27FC236}">
                <a16:creationId xmlns:a16="http://schemas.microsoft.com/office/drawing/2014/main" id="{D2336DCA-9B7D-4106-A567-831D02ED2565}"/>
              </a:ext>
            </a:extLst>
          </p:cNvPr>
          <p:cNvGraphicFramePr>
            <a:graphicFrameLocks/>
          </p:cNvGraphicFramePr>
          <p:nvPr>
            <p:extLst>
              <p:ext uri="{D42A27DB-BD31-4B8C-83A1-F6EECF244321}">
                <p14:modId xmlns:p14="http://schemas.microsoft.com/office/powerpoint/2010/main" val="1875020356"/>
              </p:ext>
            </p:extLst>
          </p:nvPr>
        </p:nvGraphicFramePr>
        <p:xfrm>
          <a:off x="3558262" y="4234301"/>
          <a:ext cx="2094900" cy="1288314"/>
        </p:xfrm>
        <a:graphic>
          <a:graphicData uri="http://schemas.openxmlformats.org/drawingml/2006/chart">
            <c:chart xmlns:c="http://schemas.openxmlformats.org/drawingml/2006/chart" xmlns:r="http://schemas.openxmlformats.org/officeDocument/2006/relationships" r:id="rId6"/>
          </a:graphicData>
        </a:graphic>
      </p:graphicFrame>
      <p:sp>
        <p:nvSpPr>
          <p:cNvPr id="21" name="TextBox 71">
            <a:extLst>
              <a:ext uri="{FF2B5EF4-FFF2-40B4-BE49-F238E27FC236}">
                <a16:creationId xmlns:a16="http://schemas.microsoft.com/office/drawing/2014/main" id="{DABB6FA7-9BFE-7EF8-561E-508147126253}"/>
              </a:ext>
            </a:extLst>
          </p:cNvPr>
          <p:cNvSpPr txBox="1"/>
          <p:nvPr/>
        </p:nvSpPr>
        <p:spPr>
          <a:xfrm>
            <a:off x="3597275" y="5377918"/>
            <a:ext cx="2827337" cy="22535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n-US" sz="1100" b="0" dirty="0">
              <a:solidFill>
                <a:srgbClr val="0070C0"/>
              </a:solidFill>
            </a:endParaRPr>
          </a:p>
        </p:txBody>
      </p:sp>
      <p:graphicFrame>
        <p:nvGraphicFramePr>
          <p:cNvPr id="23" name="Chart 22">
            <a:extLst>
              <a:ext uri="{FF2B5EF4-FFF2-40B4-BE49-F238E27FC236}">
                <a16:creationId xmlns:a16="http://schemas.microsoft.com/office/drawing/2014/main" id="{AE80861F-69E7-4D79-B16F-D828D57B6146}"/>
              </a:ext>
            </a:extLst>
          </p:cNvPr>
          <p:cNvGraphicFramePr>
            <a:graphicFrameLocks/>
          </p:cNvGraphicFramePr>
          <p:nvPr>
            <p:extLst>
              <p:ext uri="{D42A27DB-BD31-4B8C-83A1-F6EECF244321}">
                <p14:modId xmlns:p14="http://schemas.microsoft.com/office/powerpoint/2010/main" val="3003573121"/>
              </p:ext>
            </p:extLst>
          </p:nvPr>
        </p:nvGraphicFramePr>
        <p:xfrm>
          <a:off x="313678" y="1654118"/>
          <a:ext cx="5339484" cy="292172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725685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6E28637-7273-CC40-0288-581FE00D1A0D}"/>
              </a:ext>
            </a:extLst>
          </p:cNvPr>
          <p:cNvSpPr txBox="1"/>
          <p:nvPr/>
        </p:nvSpPr>
        <p:spPr>
          <a:xfrm>
            <a:off x="2152120" y="4345894"/>
            <a:ext cx="8771465" cy="1754326"/>
          </a:xfrm>
          <a:prstGeom prst="rect">
            <a:avLst/>
          </a:prstGeom>
          <a:noFill/>
        </p:spPr>
        <p:txBody>
          <a:bodyPr wrap="square">
            <a:spAutoFit/>
          </a:bodyPr>
          <a:lstStyle/>
          <a:p>
            <a:pPr marL="285750" lvl="0" indent="-285750">
              <a:buFont typeface="Arial" panose="020B0604020202020204" pitchFamily="34" charset="0"/>
              <a:buChar char="•"/>
            </a:pPr>
            <a:r>
              <a:rPr lang="en-US" dirty="0"/>
              <a:t>It is clear from the above chart that more tickets are resolved in the months of August, October, and December.</a:t>
            </a:r>
          </a:p>
          <a:p>
            <a:pPr marL="285750" lvl="0" indent="-285750">
              <a:buFont typeface="Arial" panose="020B0604020202020204" pitchFamily="34" charset="0"/>
              <a:buChar char="•"/>
            </a:pPr>
            <a:r>
              <a:rPr lang="en-US" dirty="0"/>
              <a:t>January is the month with the lowest volume of tickets being resolved.</a:t>
            </a:r>
          </a:p>
          <a:p>
            <a:pPr marL="285750" lvl="0" indent="-285750">
              <a:buFont typeface="Arial" panose="020B0604020202020204" pitchFamily="34" charset="0"/>
              <a:buChar char="•"/>
            </a:pPr>
            <a:r>
              <a:rPr lang="en-US" dirty="0"/>
              <a:t>There might be fewer unresolved or overdue tickets in Jan.</a:t>
            </a:r>
          </a:p>
          <a:p>
            <a:pPr marL="285750" lvl="0" indent="-285750">
              <a:buFont typeface="Arial" panose="020B0604020202020204" pitchFamily="34" charset="0"/>
              <a:buChar char="•"/>
            </a:pPr>
            <a:r>
              <a:rPr lang="en-US" dirty="0"/>
              <a:t>Higher delays and dissatisfactions.</a:t>
            </a:r>
          </a:p>
          <a:p>
            <a:pPr marL="285750" lvl="0" indent="-285750">
              <a:buFont typeface="Arial" panose="020B0604020202020204" pitchFamily="34" charset="0"/>
              <a:buChar char="•"/>
            </a:pPr>
            <a:r>
              <a:rPr lang="en-US" dirty="0"/>
              <a:t>Indicates insufficient resources and inadequate training.</a:t>
            </a:r>
          </a:p>
        </p:txBody>
      </p:sp>
      <p:graphicFrame>
        <p:nvGraphicFramePr>
          <p:cNvPr id="11" name="Chart 10">
            <a:extLst>
              <a:ext uri="{FF2B5EF4-FFF2-40B4-BE49-F238E27FC236}">
                <a16:creationId xmlns:a16="http://schemas.microsoft.com/office/drawing/2014/main" id="{41F0762C-B021-A0B5-0ABE-289629EBAE26}"/>
              </a:ext>
            </a:extLst>
          </p:cNvPr>
          <p:cNvGraphicFramePr>
            <a:graphicFrameLocks/>
          </p:cNvGraphicFramePr>
          <p:nvPr>
            <p:extLst>
              <p:ext uri="{D42A27DB-BD31-4B8C-83A1-F6EECF244321}">
                <p14:modId xmlns:p14="http://schemas.microsoft.com/office/powerpoint/2010/main" val="140538075"/>
              </p:ext>
            </p:extLst>
          </p:nvPr>
        </p:nvGraphicFramePr>
        <p:xfrm>
          <a:off x="2152120" y="872457"/>
          <a:ext cx="8648699" cy="3305175"/>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BA373A57-AE97-E892-E815-CCE243970356}"/>
              </a:ext>
            </a:extLst>
          </p:cNvPr>
          <p:cNvSpPr txBox="1"/>
          <p:nvPr/>
        </p:nvSpPr>
        <p:spPr>
          <a:xfrm>
            <a:off x="2090738" y="180975"/>
            <a:ext cx="9053512" cy="523220"/>
          </a:xfrm>
          <a:prstGeom prst="rect">
            <a:avLst/>
          </a:prstGeom>
          <a:noFill/>
        </p:spPr>
        <p:txBody>
          <a:bodyPr wrap="square" rtlCol="0">
            <a:spAutoFit/>
          </a:bodyPr>
          <a:lstStyle/>
          <a:p>
            <a:pPr algn="ctr">
              <a:defRPr sz="1400" b="0" i="0" u="none" strike="noStrike" kern="1200" spc="0" baseline="0">
                <a:solidFill>
                  <a:prstClr val="black">
                    <a:lumMod val="65000"/>
                    <a:lumOff val="35000"/>
                  </a:prstClr>
                </a:solidFill>
                <a:latin typeface="+mn-lt"/>
                <a:ea typeface="+mn-ea"/>
                <a:cs typeface="+mn-cs"/>
              </a:defRPr>
            </a:pPr>
            <a:r>
              <a:rPr lang="en-US" sz="2800" b="1" dirty="0"/>
              <a:t>Monthly Distribution of Tickets by Total Resolution Time</a:t>
            </a:r>
          </a:p>
        </p:txBody>
      </p:sp>
    </p:spTree>
    <p:extLst>
      <p:ext uri="{BB962C8B-B14F-4D97-AF65-F5344CB8AC3E}">
        <p14:creationId xmlns:p14="http://schemas.microsoft.com/office/powerpoint/2010/main" val="1425687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2A19B82B-5EDC-2A53-7FE8-BE152B2773AA}"/>
              </a:ext>
            </a:extLst>
          </p:cNvPr>
          <p:cNvGraphicFramePr>
            <a:graphicFrameLocks/>
          </p:cNvGraphicFramePr>
          <p:nvPr>
            <p:extLst>
              <p:ext uri="{D42A27DB-BD31-4B8C-83A1-F6EECF244321}">
                <p14:modId xmlns:p14="http://schemas.microsoft.com/office/powerpoint/2010/main" val="1984942119"/>
              </p:ext>
            </p:extLst>
          </p:nvPr>
        </p:nvGraphicFramePr>
        <p:xfrm>
          <a:off x="428625" y="1353133"/>
          <a:ext cx="5276851" cy="468571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D7250B8-61AC-D84B-0F79-4ED9754AC1B7}"/>
              </a:ext>
            </a:extLst>
          </p:cNvPr>
          <p:cNvSpPr txBox="1"/>
          <p:nvPr/>
        </p:nvSpPr>
        <p:spPr>
          <a:xfrm>
            <a:off x="2876550" y="419100"/>
            <a:ext cx="7419975" cy="523220"/>
          </a:xfrm>
          <a:prstGeom prst="rect">
            <a:avLst/>
          </a:prstGeom>
          <a:noFill/>
        </p:spPr>
        <p:txBody>
          <a:bodyPr wrap="square" rtlCol="0">
            <a:spAutoFit/>
          </a:bodyPr>
          <a:lstStyle/>
          <a:p>
            <a:pPr algn="ctr">
              <a:defRPr sz="1400" b="0" i="0" u="none" strike="noStrike" kern="1200" spc="0" baseline="0">
                <a:solidFill>
                  <a:prstClr val="black">
                    <a:lumMod val="65000"/>
                    <a:lumOff val="35000"/>
                  </a:prstClr>
                </a:solidFill>
                <a:latin typeface="+mn-lt"/>
                <a:ea typeface="+mn-ea"/>
                <a:cs typeface="+mn-cs"/>
              </a:defRPr>
            </a:pPr>
            <a:r>
              <a:rPr lang="en-US" sz="2800" b="1" dirty="0"/>
              <a:t>Distribution of Tickets by Satisfaction Score</a:t>
            </a:r>
          </a:p>
        </p:txBody>
      </p:sp>
      <p:sp>
        <p:nvSpPr>
          <p:cNvPr id="8" name="Rectangle 1">
            <a:extLst>
              <a:ext uri="{FF2B5EF4-FFF2-40B4-BE49-F238E27FC236}">
                <a16:creationId xmlns:a16="http://schemas.microsoft.com/office/drawing/2014/main" id="{03671F26-3FCE-3DB7-15A9-6EC484891767}"/>
              </a:ext>
            </a:extLst>
          </p:cNvPr>
          <p:cNvSpPr>
            <a:spLocks noChangeArrowheads="1"/>
          </p:cNvSpPr>
          <p:nvPr/>
        </p:nvSpPr>
        <p:spPr bwMode="auto">
          <a:xfrm rot="10800000" flipV="1">
            <a:off x="6096000" y="1670097"/>
            <a:ext cx="566737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More than 80% tickets have high satisfaction scores (4 &amp; 5), showing strong service quality; maintain current support processes and SLAs.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Over 50% tickets rated 5, indicating excellent customer experience; recognize and replicate best-performing agent practices.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Very low dissatisfaction (Score 1–2 ~3%), suggesting minimal service gaps; analyze these cases to prevent repeat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7% tickets rated 3 reflect neutral experience; focus on faster resolution and clearer communication to improve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Overall satisfaction trend is positive; target conversion of Score-3 users into Score-4/5 through proactive follow-ups</a:t>
            </a:r>
            <a:r>
              <a:rPr kumimoji="0" lang="en-US" altLang="en-US" sz="18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260529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12C648-C429-F23F-CAAB-67088467DBF3}"/>
              </a:ext>
            </a:extLst>
          </p:cNvPr>
          <p:cNvSpPr txBox="1"/>
          <p:nvPr/>
        </p:nvSpPr>
        <p:spPr>
          <a:xfrm>
            <a:off x="855133" y="1190221"/>
            <a:ext cx="10752668" cy="5078313"/>
          </a:xfrm>
          <a:prstGeom prst="rect">
            <a:avLst/>
          </a:prstGeom>
          <a:noFill/>
        </p:spPr>
        <p:txBody>
          <a:bodyPr wrap="square">
            <a:spAutoFit/>
          </a:bodyPr>
          <a:lstStyle/>
          <a:p>
            <a:pPr>
              <a:buNone/>
            </a:pPr>
            <a:endParaRPr lang="en-US" b="1" dirty="0"/>
          </a:p>
          <a:p>
            <a:pPr marL="285750" indent="-285750">
              <a:buFont typeface="Arial" panose="020B0604020202020204" pitchFamily="34" charset="0"/>
              <a:buChar char="•"/>
            </a:pPr>
            <a:r>
              <a:rPr lang="en-US" dirty="0"/>
              <a:t>Invest in </a:t>
            </a:r>
            <a:r>
              <a:rPr lang="en-US" b="1" dirty="0"/>
              <a:t>automation &amp; self-service</a:t>
            </a:r>
            <a:r>
              <a:rPr lang="en-US" dirty="0"/>
              <a:t> for high-volume requests (System, Login Access).</a:t>
            </a:r>
          </a:p>
          <a:p>
            <a:pPr marL="285750" indent="-285750">
              <a:buFont typeface="Arial" panose="020B0604020202020204" pitchFamily="34" charset="0"/>
              <a:buChar char="•"/>
            </a:pPr>
            <a:r>
              <a:rPr lang="en-US" dirty="0"/>
              <a:t>Strengthen </a:t>
            </a:r>
            <a:r>
              <a:rPr lang="en-US" b="1" dirty="0"/>
              <a:t>IT Asset Management, spare inventory &amp; vendor SLAs</a:t>
            </a:r>
            <a:r>
              <a:rPr lang="en-US" dirty="0"/>
              <a:t> for Hardware support.</a:t>
            </a:r>
          </a:p>
          <a:p>
            <a:pPr marL="285750" indent="-285750">
              <a:buFont typeface="Arial" panose="020B0604020202020204" pitchFamily="34" charset="0"/>
              <a:buChar char="•"/>
            </a:pPr>
            <a:r>
              <a:rPr lang="en-US" dirty="0"/>
              <a:t>Deploy </a:t>
            </a:r>
            <a:r>
              <a:rPr lang="en-US" b="1" dirty="0"/>
              <a:t>advanced diagnostics tools &amp; robust knowledge base</a:t>
            </a:r>
            <a:r>
              <a:rPr lang="en-US" dirty="0"/>
              <a:t> for System &amp; Software.</a:t>
            </a:r>
          </a:p>
          <a:p>
            <a:pPr marL="285750" indent="-285750">
              <a:buFont typeface="Arial" panose="020B0604020202020204" pitchFamily="34" charset="0"/>
              <a:buChar char="•"/>
            </a:pPr>
            <a:r>
              <a:rPr lang="en-US" dirty="0"/>
              <a:t>Upgrade </a:t>
            </a:r>
            <a:r>
              <a:rPr lang="en-US" b="1" dirty="0"/>
              <a:t>Ticket Management system</a:t>
            </a:r>
            <a:r>
              <a:rPr lang="en-US" dirty="0"/>
              <a:t> for better routing, workload balancing &amp; scalability.</a:t>
            </a:r>
          </a:p>
          <a:p>
            <a:pPr marL="285750" indent="-285750">
              <a:buFont typeface="Arial" panose="020B0604020202020204" pitchFamily="34" charset="0"/>
              <a:buChar char="•"/>
            </a:pPr>
            <a:r>
              <a:rPr lang="en-US" dirty="0"/>
              <a:t>Prioritize reducing resolution time for </a:t>
            </a:r>
            <a:r>
              <a:rPr lang="en-US" b="1" dirty="0"/>
              <a:t>System &amp; Hardware</a:t>
            </a:r>
            <a:r>
              <a:rPr lang="en-US" dirty="0"/>
              <a:t> tickets.</a:t>
            </a:r>
          </a:p>
          <a:p>
            <a:pPr marL="285750" indent="-285750">
              <a:buFont typeface="Arial" panose="020B0604020202020204" pitchFamily="34" charset="0"/>
              <a:buChar char="•"/>
            </a:pPr>
            <a:r>
              <a:rPr lang="en-US" dirty="0"/>
              <a:t>Introduce </a:t>
            </a:r>
            <a:r>
              <a:rPr lang="en-US" b="1" dirty="0"/>
              <a:t>specialized technical training &amp; knowledge base expansion</a:t>
            </a:r>
            <a:r>
              <a:rPr lang="en-US" dirty="0"/>
              <a:t>.</a:t>
            </a:r>
          </a:p>
          <a:p>
            <a:pPr marL="285750" indent="-285750">
              <a:buFont typeface="Arial" panose="020B0604020202020204" pitchFamily="34" charset="0"/>
              <a:buChar char="•"/>
            </a:pPr>
            <a:r>
              <a:rPr lang="en-US" dirty="0"/>
              <a:t>Implement </a:t>
            </a:r>
            <a:r>
              <a:rPr lang="en-US" b="1" dirty="0"/>
              <a:t>priority-based ticket routing</a:t>
            </a:r>
            <a:r>
              <a:rPr lang="en-US" dirty="0"/>
              <a:t>, assigning complex cases to senior agents.</a:t>
            </a:r>
          </a:p>
          <a:p>
            <a:pPr marL="285750" indent="-285750">
              <a:buFont typeface="Arial" panose="020B0604020202020204" pitchFamily="34" charset="0"/>
              <a:buChar char="•"/>
            </a:pPr>
            <a:r>
              <a:rPr lang="en-US" dirty="0"/>
              <a:t>Streamline </a:t>
            </a:r>
            <a:r>
              <a:rPr lang="en-US" b="1" dirty="0"/>
              <a:t>Login Access handling</a:t>
            </a:r>
            <a:r>
              <a:rPr lang="en-US" dirty="0"/>
              <a:t> through automation due to high volume.</a:t>
            </a:r>
          </a:p>
          <a:p>
            <a:pPr marL="285750" indent="-285750">
              <a:buFont typeface="Arial" panose="020B0604020202020204" pitchFamily="34" charset="0"/>
              <a:buChar char="•"/>
            </a:pPr>
            <a:r>
              <a:rPr lang="en-US" dirty="0"/>
              <a:t>Monitor </a:t>
            </a:r>
            <a:r>
              <a:rPr lang="en-US" b="1" dirty="0"/>
              <a:t>Software tickets</a:t>
            </a:r>
            <a:r>
              <a:rPr lang="en-US" dirty="0"/>
              <a:t> closely to prevent future escalation.</a:t>
            </a:r>
          </a:p>
          <a:p>
            <a:pPr marL="285750" indent="-285750">
              <a:buFont typeface="Arial" panose="020B0604020202020204" pitchFamily="34" charset="0"/>
              <a:buChar char="•"/>
            </a:pPr>
            <a:r>
              <a:rPr lang="en-US" dirty="0"/>
              <a:t>Short-to-Medium Term: </a:t>
            </a:r>
            <a:r>
              <a:rPr lang="en-US" b="1" dirty="0"/>
              <a:t>Improve training programs</a:t>
            </a:r>
            <a:r>
              <a:rPr lang="en-US" dirty="0"/>
              <a:t> for faster resolution &amp; higher customer satisfaction.</a:t>
            </a:r>
          </a:p>
          <a:p>
            <a:pPr marL="285750" indent="-285750">
              <a:buFont typeface="Arial" panose="020B0604020202020204" pitchFamily="34" charset="0"/>
              <a:buChar char="•"/>
            </a:pPr>
            <a:r>
              <a:rPr lang="en-US" dirty="0"/>
              <a:t>Medium-to-Long Term: </a:t>
            </a:r>
            <a:r>
              <a:rPr lang="en-US" b="1" dirty="0"/>
              <a:t>Upgrade ticketing platform</a:t>
            </a:r>
            <a:r>
              <a:rPr lang="en-US" dirty="0"/>
              <a:t> to support growth &amp; reduce incoming demand.</a:t>
            </a:r>
          </a:p>
          <a:p>
            <a:pPr marL="285750" indent="-285750">
              <a:buFont typeface="Arial" panose="020B0604020202020204" pitchFamily="34" charset="0"/>
              <a:buChar char="•"/>
            </a:pPr>
            <a:r>
              <a:rPr lang="en-US" dirty="0"/>
              <a:t>Encourage high-performing agents (28-32, 43-47) to </a:t>
            </a:r>
            <a:r>
              <a:rPr lang="en-US" b="1" dirty="0"/>
              <a:t>document solutions</a:t>
            </a:r>
            <a:r>
              <a:rPr lang="en-US" dirty="0"/>
              <a:t>.</a:t>
            </a:r>
          </a:p>
          <a:p>
            <a:pPr marL="285750" indent="-285750">
              <a:buFont typeface="Arial" panose="020B0604020202020204" pitchFamily="34" charset="0"/>
              <a:buChar char="•"/>
            </a:pPr>
            <a:r>
              <a:rPr lang="en-US" dirty="0"/>
              <a:t>Utilize senior agents (48-53) for </a:t>
            </a:r>
            <a:r>
              <a:rPr lang="en-US" b="1" dirty="0"/>
              <a:t>mentorship &amp; complex tickets</a:t>
            </a:r>
            <a:r>
              <a:rPr lang="en-US" dirty="0"/>
              <a:t>.</a:t>
            </a:r>
          </a:p>
          <a:p>
            <a:pPr marL="285750" indent="-285750">
              <a:buFont typeface="Arial" panose="020B0604020202020204" pitchFamily="34" charset="0"/>
              <a:buChar char="•"/>
            </a:pPr>
            <a:r>
              <a:rPr lang="en-US" dirty="0"/>
              <a:t>Provide </a:t>
            </a:r>
            <a:r>
              <a:rPr lang="en-US" b="1" dirty="0"/>
              <a:t>targeted training</a:t>
            </a:r>
            <a:r>
              <a:rPr lang="en-US" dirty="0"/>
              <a:t>:</a:t>
            </a:r>
          </a:p>
          <a:p>
            <a:pPr marL="742950" lvl="1" indent="-285750">
              <a:buFont typeface="Wingdings" panose="05000000000000000000" pitchFamily="2" charset="2"/>
              <a:buChar char="ü"/>
            </a:pPr>
            <a:r>
              <a:rPr lang="en-US" dirty="0"/>
              <a:t>Customer service &amp; communication for low-satisfaction agents.</a:t>
            </a:r>
          </a:p>
          <a:p>
            <a:pPr marL="742950" lvl="1" indent="-285750">
              <a:buFont typeface="Wingdings" panose="05000000000000000000" pitchFamily="2" charset="2"/>
              <a:buChar char="ü"/>
            </a:pPr>
            <a:r>
              <a:rPr lang="en-US" dirty="0"/>
              <a:t>Advanced troubleshooting for agents with long resolution times.</a:t>
            </a:r>
          </a:p>
          <a:p>
            <a:pPr marL="742950" lvl="1" indent="-285750">
              <a:buFont typeface="Wingdings" panose="05000000000000000000" pitchFamily="2" charset="2"/>
              <a:buChar char="ü"/>
            </a:pPr>
            <a:r>
              <a:rPr lang="en-US" dirty="0"/>
              <a:t>Focused System &amp; Software training for </a:t>
            </a:r>
            <a:r>
              <a:rPr lang="en-US" b="1" dirty="0"/>
              <a:t>33-37 age group</a:t>
            </a:r>
            <a:endParaRPr lang="en-US" dirty="0"/>
          </a:p>
        </p:txBody>
      </p:sp>
      <p:sp>
        <p:nvSpPr>
          <p:cNvPr id="4" name="TextBox 3">
            <a:extLst>
              <a:ext uri="{FF2B5EF4-FFF2-40B4-BE49-F238E27FC236}">
                <a16:creationId xmlns:a16="http://schemas.microsoft.com/office/drawing/2014/main" id="{EEE2B709-2384-2CCD-C809-53007D3D39E2}"/>
              </a:ext>
            </a:extLst>
          </p:cNvPr>
          <p:cNvSpPr txBox="1"/>
          <p:nvPr/>
        </p:nvSpPr>
        <p:spPr>
          <a:xfrm>
            <a:off x="4487333" y="474133"/>
            <a:ext cx="3202543" cy="584775"/>
          </a:xfrm>
          <a:prstGeom prst="rect">
            <a:avLst/>
          </a:prstGeom>
          <a:noFill/>
        </p:spPr>
        <p:txBody>
          <a:bodyPr wrap="none" rtlCol="0">
            <a:spAutoFit/>
          </a:bodyPr>
          <a:lstStyle/>
          <a:p>
            <a:r>
              <a:rPr lang="en-US" sz="3200" b="1" dirty="0"/>
              <a:t>Recommendation</a:t>
            </a:r>
          </a:p>
        </p:txBody>
      </p:sp>
    </p:spTree>
    <p:extLst>
      <p:ext uri="{BB962C8B-B14F-4D97-AF65-F5344CB8AC3E}">
        <p14:creationId xmlns:p14="http://schemas.microsoft.com/office/powerpoint/2010/main" val="3099634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25BFC0-BCEE-AD2A-2525-67721BCC7264}"/>
              </a:ext>
            </a:extLst>
          </p:cNvPr>
          <p:cNvPicPr>
            <a:picLocks noChangeAspect="1"/>
          </p:cNvPicPr>
          <p:nvPr/>
        </p:nvPicPr>
        <p:blipFill>
          <a:blip r:embed="rId2"/>
          <a:stretch>
            <a:fillRect/>
          </a:stretch>
        </p:blipFill>
        <p:spPr>
          <a:xfrm>
            <a:off x="93133" y="261407"/>
            <a:ext cx="12098867" cy="6596593"/>
          </a:xfrm>
          <a:prstGeom prst="rect">
            <a:avLst/>
          </a:prstGeom>
        </p:spPr>
      </p:pic>
    </p:spTree>
    <p:extLst>
      <p:ext uri="{BB962C8B-B14F-4D97-AF65-F5344CB8AC3E}">
        <p14:creationId xmlns:p14="http://schemas.microsoft.com/office/powerpoint/2010/main" val="126191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6F569-D1D1-B350-33E3-5AEDB0F468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A8F6DC-D545-4145-75C6-1A7CBCBE27D2}"/>
              </a:ext>
            </a:extLst>
          </p:cNvPr>
          <p:cNvSpPr txBox="1"/>
          <p:nvPr/>
        </p:nvSpPr>
        <p:spPr>
          <a:xfrm>
            <a:off x="4442467" y="286351"/>
            <a:ext cx="3997481" cy="584775"/>
          </a:xfrm>
          <a:prstGeom prst="rect">
            <a:avLst/>
          </a:prstGeom>
          <a:noFill/>
        </p:spPr>
        <p:txBody>
          <a:bodyPr wrap="square" rtlCol="0">
            <a:spAutoFit/>
          </a:bodyPr>
          <a:lstStyle/>
          <a:p>
            <a:pPr algn="ctr"/>
            <a:r>
              <a:rPr lang="en-US" sz="3200" b="1" dirty="0">
                <a:latin typeface="Aptos Narrow" panose="020B0004020202020204" pitchFamily="34" charset="0"/>
                <a:cs typeface="APPLE CHANCERY" panose="03020702040506060504" pitchFamily="66" charset="-79"/>
              </a:rPr>
              <a:t>Conclusion</a:t>
            </a:r>
          </a:p>
        </p:txBody>
      </p:sp>
      <p:sp>
        <p:nvSpPr>
          <p:cNvPr id="3" name="TextBox 2">
            <a:extLst>
              <a:ext uri="{FF2B5EF4-FFF2-40B4-BE49-F238E27FC236}">
                <a16:creationId xmlns:a16="http://schemas.microsoft.com/office/drawing/2014/main" id="{9417C3D0-6833-D952-678C-96FC951F2AB5}"/>
              </a:ext>
            </a:extLst>
          </p:cNvPr>
          <p:cNvSpPr txBox="1"/>
          <p:nvPr/>
        </p:nvSpPr>
        <p:spPr>
          <a:xfrm>
            <a:off x="820615" y="1758840"/>
            <a:ext cx="9805052" cy="2862322"/>
          </a:xfrm>
          <a:prstGeom prst="rect">
            <a:avLst/>
          </a:prstGeom>
          <a:noFill/>
        </p:spPr>
        <p:txBody>
          <a:bodyPr wrap="square" rtlCol="0">
            <a:spAutoFit/>
          </a:bodyPr>
          <a:lstStyle/>
          <a:p>
            <a:pPr marL="285750" indent="-285750">
              <a:buFont typeface="Arial" panose="020B0604020202020204" pitchFamily="34" charset="0"/>
              <a:buChar char="•"/>
            </a:pPr>
            <a:r>
              <a:rPr lang="en-IN" dirty="0"/>
              <a:t>This analysis provides a clear roadmap to transform a growing but reactive IT support function into a proactive, efficient, and scalable operation. By strategically investing in our people and technology, we can sustain high customer satisfaction while successfully meeting the future demands of our organization.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IT support team is facing a challenge of ever-increasing ticket volume, but has successfully maintained high customer satisfaction. The current system is inefficient, with issues like unassigned priorities. The most effective short-term solution is to invest in training to empower agents and reduce resolution times. For long-term sustainability, a strategic upgrade of the ticket management software is essential to proactively reduce demand and ensure a scalable operation.</a:t>
            </a:r>
          </a:p>
        </p:txBody>
      </p:sp>
    </p:spTree>
    <p:extLst>
      <p:ext uri="{BB962C8B-B14F-4D97-AF65-F5344CB8AC3E}">
        <p14:creationId xmlns:p14="http://schemas.microsoft.com/office/powerpoint/2010/main" val="523076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4018</TotalTime>
  <Words>1358</Words>
  <Application>Microsoft Office PowerPoint</Application>
  <PresentationFormat>Widescreen</PresentationFormat>
  <Paragraphs>141</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 Narrow</vt:lpstr>
      <vt:lpstr>Arial</vt:lpstr>
      <vt:lpstr>Avenir Book</vt:lpstr>
      <vt:lpstr>Calibri</vt:lpstr>
      <vt:lpstr>Calibri Light</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Febin George</dc:creator>
  <cp:lastModifiedBy>Ravi Kant Mishra</cp:lastModifiedBy>
  <cp:revision>11</cp:revision>
  <dcterms:created xsi:type="dcterms:W3CDTF">2025-07-17T18:22:32Z</dcterms:created>
  <dcterms:modified xsi:type="dcterms:W3CDTF">2025-12-24T14:09:04Z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3085043</vt:lpwstr>
  </property>
  <property fmtid="{D5CDD505-2E9C-101B-9397-08002B2CF9AE}" pid="3" name="NXPowerLiteSettings">
    <vt:lpwstr>F7000400038000</vt:lpwstr>
  </property>
  <property fmtid="{D5CDD505-2E9C-101B-9397-08002B2CF9AE}" pid="4" name="NXPowerLiteVersion">
    <vt:lpwstr>S10.9.4</vt:lpwstr>
  </property>
</Properties>
</file>